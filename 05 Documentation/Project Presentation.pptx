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87" r:id="rId1"/>
  </p:sldMasterIdLst>
  <p:sldIdLst>
    <p:sldId id="256" r:id="rId2"/>
    <p:sldId id="276" r:id="rId3"/>
    <p:sldId id="257" r:id="rId4"/>
    <p:sldId id="258" r:id="rId5"/>
    <p:sldId id="259" r:id="rId6"/>
    <p:sldId id="260"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9C88C9-8BE4-45C8-95C8-81D32B6E8B92}" v="29" dt="2026-07-31T16:08:00.9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anshu Goel" userId="e7e2b51fcc6f455b" providerId="LiveId" clId="{A95BF8B0-283B-4C25-B930-B6C6FF10AB2F}"/>
    <pc:docChg chg="custSel addSld delSld modSld modMainMaster">
      <pc:chgData name="Deepanshu Goel" userId="e7e2b51fcc6f455b" providerId="LiveId" clId="{A95BF8B0-283B-4C25-B930-B6C6FF10AB2F}" dt="2026-07-31T16:08:01.243" v="290" actId="27636"/>
      <pc:docMkLst>
        <pc:docMk/>
      </pc:docMkLst>
      <pc:sldChg chg="modSp mod">
        <pc:chgData name="Deepanshu Goel" userId="e7e2b51fcc6f455b" providerId="LiveId" clId="{A95BF8B0-283B-4C25-B930-B6C6FF10AB2F}" dt="2026-07-31T16:08:00.921" v="275"/>
        <pc:sldMkLst>
          <pc:docMk/>
          <pc:sldMk cId="227819261" sldId="256"/>
        </pc:sldMkLst>
        <pc:spChg chg="mod">
          <ac:chgData name="Deepanshu Goel" userId="e7e2b51fcc6f455b" providerId="LiveId" clId="{A95BF8B0-283B-4C25-B930-B6C6FF10AB2F}" dt="2026-07-31T16:08:00.921" v="275"/>
          <ac:spMkLst>
            <pc:docMk/>
            <pc:sldMk cId="227819261" sldId="256"/>
            <ac:spMk id="2" creationId="{0A0290F8-B700-762E-1210-CD2858004BFB}"/>
          </ac:spMkLst>
        </pc:spChg>
        <pc:spChg chg="mod">
          <ac:chgData name="Deepanshu Goel" userId="e7e2b51fcc6f455b" providerId="LiveId" clId="{A95BF8B0-283B-4C25-B930-B6C6FF10AB2F}" dt="2026-07-31T16:08:00.921" v="275"/>
          <ac:spMkLst>
            <pc:docMk/>
            <pc:sldMk cId="227819261" sldId="256"/>
            <ac:spMk id="3" creationId="{86EF5C47-1796-001B-13C5-57B088634564}"/>
          </ac:spMkLst>
        </pc:spChg>
      </pc:sldChg>
      <pc:sldChg chg="modSp mod">
        <pc:chgData name="Deepanshu Goel" userId="e7e2b51fcc6f455b" providerId="LiveId" clId="{A95BF8B0-283B-4C25-B930-B6C6FF10AB2F}" dt="2026-07-31T16:08:00.995" v="276" actId="27636"/>
        <pc:sldMkLst>
          <pc:docMk/>
          <pc:sldMk cId="517019153" sldId="257"/>
        </pc:sldMkLst>
        <pc:spChg chg="mod">
          <ac:chgData name="Deepanshu Goel" userId="e7e2b51fcc6f455b" providerId="LiveId" clId="{A95BF8B0-283B-4C25-B930-B6C6FF10AB2F}" dt="2026-07-31T16:08:00.921" v="275"/>
          <ac:spMkLst>
            <pc:docMk/>
            <pc:sldMk cId="517019153" sldId="257"/>
            <ac:spMk id="2" creationId="{B611F624-B8DE-0D08-6BAF-106DD5BC2BE0}"/>
          </ac:spMkLst>
        </pc:spChg>
        <pc:spChg chg="mod">
          <ac:chgData name="Deepanshu Goel" userId="e7e2b51fcc6f455b" providerId="LiveId" clId="{A95BF8B0-283B-4C25-B930-B6C6FF10AB2F}" dt="2026-07-31T16:08:00.995" v="276" actId="27636"/>
          <ac:spMkLst>
            <pc:docMk/>
            <pc:sldMk cId="517019153" sldId="257"/>
            <ac:spMk id="3" creationId="{3125968B-D890-3CF1-A834-C1F788F2E2B5}"/>
          </ac:spMkLst>
        </pc:spChg>
      </pc:sldChg>
      <pc:sldChg chg="modSp mod">
        <pc:chgData name="Deepanshu Goel" userId="e7e2b51fcc6f455b" providerId="LiveId" clId="{A95BF8B0-283B-4C25-B930-B6C6FF10AB2F}" dt="2026-07-31T16:08:01.003" v="277" actId="27636"/>
        <pc:sldMkLst>
          <pc:docMk/>
          <pc:sldMk cId="2326247924" sldId="258"/>
        </pc:sldMkLst>
        <pc:spChg chg="mod">
          <ac:chgData name="Deepanshu Goel" userId="e7e2b51fcc6f455b" providerId="LiveId" clId="{A95BF8B0-283B-4C25-B930-B6C6FF10AB2F}" dt="2026-07-31T16:08:00.921" v="275"/>
          <ac:spMkLst>
            <pc:docMk/>
            <pc:sldMk cId="2326247924" sldId="258"/>
            <ac:spMk id="2" creationId="{6378B8EB-04B8-1342-C127-DF33FE36897C}"/>
          </ac:spMkLst>
        </pc:spChg>
        <pc:spChg chg="mod">
          <ac:chgData name="Deepanshu Goel" userId="e7e2b51fcc6f455b" providerId="LiveId" clId="{A95BF8B0-283B-4C25-B930-B6C6FF10AB2F}" dt="2026-07-31T16:08:01.003" v="277" actId="27636"/>
          <ac:spMkLst>
            <pc:docMk/>
            <pc:sldMk cId="2326247924" sldId="258"/>
            <ac:spMk id="3" creationId="{0F38405B-8ECB-7438-C899-5B739E435A5D}"/>
          </ac:spMkLst>
        </pc:spChg>
      </pc:sldChg>
      <pc:sldChg chg="modSp mod">
        <pc:chgData name="Deepanshu Goel" userId="e7e2b51fcc6f455b" providerId="LiveId" clId="{A95BF8B0-283B-4C25-B930-B6C6FF10AB2F}" dt="2026-07-31T16:08:00.921" v="275"/>
        <pc:sldMkLst>
          <pc:docMk/>
          <pc:sldMk cId="2598446706" sldId="259"/>
        </pc:sldMkLst>
        <pc:spChg chg="mod">
          <ac:chgData name="Deepanshu Goel" userId="e7e2b51fcc6f455b" providerId="LiveId" clId="{A95BF8B0-283B-4C25-B930-B6C6FF10AB2F}" dt="2026-07-31T16:08:00.921" v="275"/>
          <ac:spMkLst>
            <pc:docMk/>
            <pc:sldMk cId="2598446706" sldId="259"/>
            <ac:spMk id="2" creationId="{2CD15516-D8B0-B5BD-B0B9-20A36FAD60EC}"/>
          </ac:spMkLst>
        </pc:spChg>
        <pc:spChg chg="mod">
          <ac:chgData name="Deepanshu Goel" userId="e7e2b51fcc6f455b" providerId="LiveId" clId="{A95BF8B0-283B-4C25-B930-B6C6FF10AB2F}" dt="2026-07-31T16:08:00.921" v="275"/>
          <ac:spMkLst>
            <pc:docMk/>
            <pc:sldMk cId="2598446706" sldId="259"/>
            <ac:spMk id="3" creationId="{F8721D35-F126-BD6E-B98B-BD06CD5572F0}"/>
          </ac:spMkLst>
        </pc:spChg>
      </pc:sldChg>
      <pc:sldChg chg="modSp mod">
        <pc:chgData name="Deepanshu Goel" userId="e7e2b51fcc6f455b" providerId="LiveId" clId="{A95BF8B0-283B-4C25-B930-B6C6FF10AB2F}" dt="2026-07-31T16:08:01.021" v="278" actId="27636"/>
        <pc:sldMkLst>
          <pc:docMk/>
          <pc:sldMk cId="1347096674" sldId="260"/>
        </pc:sldMkLst>
        <pc:spChg chg="mod">
          <ac:chgData name="Deepanshu Goel" userId="e7e2b51fcc6f455b" providerId="LiveId" clId="{A95BF8B0-283B-4C25-B930-B6C6FF10AB2F}" dt="2026-07-31T16:08:00.921" v="275"/>
          <ac:spMkLst>
            <pc:docMk/>
            <pc:sldMk cId="1347096674" sldId="260"/>
            <ac:spMk id="2" creationId="{6DCCC35D-446B-CB91-5CE8-D325C322D305}"/>
          </ac:spMkLst>
        </pc:spChg>
        <pc:spChg chg="mod">
          <ac:chgData name="Deepanshu Goel" userId="e7e2b51fcc6f455b" providerId="LiveId" clId="{A95BF8B0-283B-4C25-B930-B6C6FF10AB2F}" dt="2026-07-31T16:08:01.021" v="278" actId="27636"/>
          <ac:spMkLst>
            <pc:docMk/>
            <pc:sldMk cId="1347096674" sldId="260"/>
            <ac:spMk id="3" creationId="{4D439B62-0059-849B-EF26-E4FC8FEF310F}"/>
          </ac:spMkLst>
        </pc:spChg>
      </pc:sldChg>
      <pc:sldChg chg="modSp mod">
        <pc:chgData name="Deepanshu Goel" userId="e7e2b51fcc6f455b" providerId="LiveId" clId="{A95BF8B0-283B-4C25-B930-B6C6FF10AB2F}" dt="2026-07-31T16:08:01.043" v="279" actId="27636"/>
        <pc:sldMkLst>
          <pc:docMk/>
          <pc:sldMk cId="3068225524" sldId="262"/>
        </pc:sldMkLst>
        <pc:spChg chg="mod">
          <ac:chgData name="Deepanshu Goel" userId="e7e2b51fcc6f455b" providerId="LiveId" clId="{A95BF8B0-283B-4C25-B930-B6C6FF10AB2F}" dt="2026-07-31T16:08:00.921" v="275"/>
          <ac:spMkLst>
            <pc:docMk/>
            <pc:sldMk cId="3068225524" sldId="262"/>
            <ac:spMk id="2" creationId="{56604CDE-8243-A342-13BE-84B242C5EA02}"/>
          </ac:spMkLst>
        </pc:spChg>
        <pc:spChg chg="mod">
          <ac:chgData name="Deepanshu Goel" userId="e7e2b51fcc6f455b" providerId="LiveId" clId="{A95BF8B0-283B-4C25-B930-B6C6FF10AB2F}" dt="2026-07-31T16:08:01.043" v="279" actId="27636"/>
          <ac:spMkLst>
            <pc:docMk/>
            <pc:sldMk cId="3068225524" sldId="262"/>
            <ac:spMk id="3" creationId="{EA6962B5-98C9-6018-6E9D-60DF69A85ACF}"/>
          </ac:spMkLst>
        </pc:spChg>
      </pc:sldChg>
      <pc:sldChg chg="modSp mod">
        <pc:chgData name="Deepanshu Goel" userId="e7e2b51fcc6f455b" providerId="LiveId" clId="{A95BF8B0-283B-4C25-B930-B6C6FF10AB2F}" dt="2026-07-31T16:08:01.061" v="280" actId="27636"/>
        <pc:sldMkLst>
          <pc:docMk/>
          <pc:sldMk cId="1753970676" sldId="263"/>
        </pc:sldMkLst>
        <pc:spChg chg="mod">
          <ac:chgData name="Deepanshu Goel" userId="e7e2b51fcc6f455b" providerId="LiveId" clId="{A95BF8B0-283B-4C25-B930-B6C6FF10AB2F}" dt="2026-07-31T16:08:00.921" v="275"/>
          <ac:spMkLst>
            <pc:docMk/>
            <pc:sldMk cId="1753970676" sldId="263"/>
            <ac:spMk id="2" creationId="{6656D667-D676-5C35-3B56-6E3E49398766}"/>
          </ac:spMkLst>
        </pc:spChg>
        <pc:spChg chg="mod">
          <ac:chgData name="Deepanshu Goel" userId="e7e2b51fcc6f455b" providerId="LiveId" clId="{A95BF8B0-283B-4C25-B930-B6C6FF10AB2F}" dt="2026-07-31T16:08:01.061" v="280" actId="27636"/>
          <ac:spMkLst>
            <pc:docMk/>
            <pc:sldMk cId="1753970676" sldId="263"/>
            <ac:spMk id="3" creationId="{E75CD43E-BB71-C4F4-FE31-59CDF4CE77A9}"/>
          </ac:spMkLst>
        </pc:spChg>
      </pc:sldChg>
      <pc:sldChg chg="modSp mod">
        <pc:chgData name="Deepanshu Goel" userId="e7e2b51fcc6f455b" providerId="LiveId" clId="{A95BF8B0-283B-4C25-B930-B6C6FF10AB2F}" dt="2026-07-31T16:08:01.086" v="281" actId="27636"/>
        <pc:sldMkLst>
          <pc:docMk/>
          <pc:sldMk cId="3927533708" sldId="264"/>
        </pc:sldMkLst>
        <pc:spChg chg="mod">
          <ac:chgData name="Deepanshu Goel" userId="e7e2b51fcc6f455b" providerId="LiveId" clId="{A95BF8B0-283B-4C25-B930-B6C6FF10AB2F}" dt="2026-07-31T16:08:00.921" v="275"/>
          <ac:spMkLst>
            <pc:docMk/>
            <pc:sldMk cId="3927533708" sldId="264"/>
            <ac:spMk id="2" creationId="{034159B3-F47E-F2A5-E211-3FBF75C1F131}"/>
          </ac:spMkLst>
        </pc:spChg>
        <pc:spChg chg="mod">
          <ac:chgData name="Deepanshu Goel" userId="e7e2b51fcc6f455b" providerId="LiveId" clId="{A95BF8B0-283B-4C25-B930-B6C6FF10AB2F}" dt="2026-07-31T16:08:01.086" v="281" actId="27636"/>
          <ac:spMkLst>
            <pc:docMk/>
            <pc:sldMk cId="3927533708" sldId="264"/>
            <ac:spMk id="3" creationId="{BFCE777B-57F8-25D1-57A0-471CACCE1EFB}"/>
          </ac:spMkLst>
        </pc:spChg>
      </pc:sldChg>
      <pc:sldChg chg="modSp mod">
        <pc:chgData name="Deepanshu Goel" userId="e7e2b51fcc6f455b" providerId="LiveId" clId="{A95BF8B0-283B-4C25-B930-B6C6FF10AB2F}" dt="2026-07-31T16:08:01.107" v="282" actId="27636"/>
        <pc:sldMkLst>
          <pc:docMk/>
          <pc:sldMk cId="3185617506" sldId="265"/>
        </pc:sldMkLst>
        <pc:spChg chg="mod">
          <ac:chgData name="Deepanshu Goel" userId="e7e2b51fcc6f455b" providerId="LiveId" clId="{A95BF8B0-283B-4C25-B930-B6C6FF10AB2F}" dt="2026-07-31T16:08:00.921" v="275"/>
          <ac:spMkLst>
            <pc:docMk/>
            <pc:sldMk cId="3185617506" sldId="265"/>
            <ac:spMk id="2" creationId="{880E3CCC-CE8F-AD9C-F022-4991D4B29E4B}"/>
          </ac:spMkLst>
        </pc:spChg>
        <pc:spChg chg="mod">
          <ac:chgData name="Deepanshu Goel" userId="e7e2b51fcc6f455b" providerId="LiveId" clId="{A95BF8B0-283B-4C25-B930-B6C6FF10AB2F}" dt="2026-07-31T16:08:01.107" v="282" actId="27636"/>
          <ac:spMkLst>
            <pc:docMk/>
            <pc:sldMk cId="3185617506" sldId="265"/>
            <ac:spMk id="3" creationId="{0277DC40-D5CB-0631-6326-062C6890DEC8}"/>
          </ac:spMkLst>
        </pc:spChg>
      </pc:sldChg>
      <pc:sldChg chg="modSp mod">
        <pc:chgData name="Deepanshu Goel" userId="e7e2b51fcc6f455b" providerId="LiveId" clId="{A95BF8B0-283B-4C25-B930-B6C6FF10AB2F}" dt="2026-07-31T16:08:01.124" v="283" actId="27636"/>
        <pc:sldMkLst>
          <pc:docMk/>
          <pc:sldMk cId="3663629624" sldId="266"/>
        </pc:sldMkLst>
        <pc:spChg chg="mod">
          <ac:chgData name="Deepanshu Goel" userId="e7e2b51fcc6f455b" providerId="LiveId" clId="{A95BF8B0-283B-4C25-B930-B6C6FF10AB2F}" dt="2026-07-31T16:08:00.921" v="275"/>
          <ac:spMkLst>
            <pc:docMk/>
            <pc:sldMk cId="3663629624" sldId="266"/>
            <ac:spMk id="2" creationId="{7421E066-A2F9-F35A-F228-E121C9CB5A9C}"/>
          </ac:spMkLst>
        </pc:spChg>
        <pc:spChg chg="mod">
          <ac:chgData name="Deepanshu Goel" userId="e7e2b51fcc6f455b" providerId="LiveId" clId="{A95BF8B0-283B-4C25-B930-B6C6FF10AB2F}" dt="2026-07-31T16:08:01.124" v="283" actId="27636"/>
          <ac:spMkLst>
            <pc:docMk/>
            <pc:sldMk cId="3663629624" sldId="266"/>
            <ac:spMk id="3" creationId="{6452D06E-253B-1528-4E99-088A4B93A350}"/>
          </ac:spMkLst>
        </pc:spChg>
      </pc:sldChg>
      <pc:sldChg chg="modSp mod">
        <pc:chgData name="Deepanshu Goel" userId="e7e2b51fcc6f455b" providerId="LiveId" clId="{A95BF8B0-283B-4C25-B930-B6C6FF10AB2F}" dt="2026-07-31T16:08:01.139" v="284" actId="27636"/>
        <pc:sldMkLst>
          <pc:docMk/>
          <pc:sldMk cId="3061783134" sldId="267"/>
        </pc:sldMkLst>
        <pc:spChg chg="mod">
          <ac:chgData name="Deepanshu Goel" userId="e7e2b51fcc6f455b" providerId="LiveId" clId="{A95BF8B0-283B-4C25-B930-B6C6FF10AB2F}" dt="2026-07-31T16:08:00.921" v="275"/>
          <ac:spMkLst>
            <pc:docMk/>
            <pc:sldMk cId="3061783134" sldId="267"/>
            <ac:spMk id="2" creationId="{EB5BDF21-D001-8FA5-A95E-760E29F2957E}"/>
          </ac:spMkLst>
        </pc:spChg>
        <pc:spChg chg="mod">
          <ac:chgData name="Deepanshu Goel" userId="e7e2b51fcc6f455b" providerId="LiveId" clId="{A95BF8B0-283B-4C25-B930-B6C6FF10AB2F}" dt="2026-07-31T16:08:01.139" v="284" actId="27636"/>
          <ac:spMkLst>
            <pc:docMk/>
            <pc:sldMk cId="3061783134" sldId="267"/>
            <ac:spMk id="3" creationId="{83F6FCE3-3516-C4A9-3936-6CA688234557}"/>
          </ac:spMkLst>
        </pc:spChg>
      </pc:sldChg>
      <pc:sldChg chg="modSp mod">
        <pc:chgData name="Deepanshu Goel" userId="e7e2b51fcc6f455b" providerId="LiveId" clId="{A95BF8B0-283B-4C25-B930-B6C6FF10AB2F}" dt="2026-07-31T16:08:01.152" v="285" actId="27636"/>
        <pc:sldMkLst>
          <pc:docMk/>
          <pc:sldMk cId="3882266036" sldId="268"/>
        </pc:sldMkLst>
        <pc:spChg chg="mod">
          <ac:chgData name="Deepanshu Goel" userId="e7e2b51fcc6f455b" providerId="LiveId" clId="{A95BF8B0-283B-4C25-B930-B6C6FF10AB2F}" dt="2026-07-31T16:08:00.921" v="275"/>
          <ac:spMkLst>
            <pc:docMk/>
            <pc:sldMk cId="3882266036" sldId="268"/>
            <ac:spMk id="2" creationId="{13F78C2B-3AC6-0A54-E57D-C86DA42DF30A}"/>
          </ac:spMkLst>
        </pc:spChg>
        <pc:spChg chg="mod">
          <ac:chgData name="Deepanshu Goel" userId="e7e2b51fcc6f455b" providerId="LiveId" clId="{A95BF8B0-283B-4C25-B930-B6C6FF10AB2F}" dt="2026-07-31T16:08:01.152" v="285" actId="27636"/>
          <ac:spMkLst>
            <pc:docMk/>
            <pc:sldMk cId="3882266036" sldId="268"/>
            <ac:spMk id="3" creationId="{93431B4E-4DA0-6F6D-0F11-9CE985494D0B}"/>
          </ac:spMkLst>
        </pc:spChg>
      </pc:sldChg>
      <pc:sldChg chg="modSp mod">
        <pc:chgData name="Deepanshu Goel" userId="e7e2b51fcc6f455b" providerId="LiveId" clId="{A95BF8B0-283B-4C25-B930-B6C6FF10AB2F}" dt="2026-07-31T16:08:01.168" v="286" actId="27636"/>
        <pc:sldMkLst>
          <pc:docMk/>
          <pc:sldMk cId="989797046" sldId="269"/>
        </pc:sldMkLst>
        <pc:spChg chg="mod">
          <ac:chgData name="Deepanshu Goel" userId="e7e2b51fcc6f455b" providerId="LiveId" clId="{A95BF8B0-283B-4C25-B930-B6C6FF10AB2F}" dt="2026-07-31T16:08:00.921" v="275"/>
          <ac:spMkLst>
            <pc:docMk/>
            <pc:sldMk cId="989797046" sldId="269"/>
            <ac:spMk id="2" creationId="{B08CEB7A-CD41-C20C-65C9-E484C5B737D7}"/>
          </ac:spMkLst>
        </pc:spChg>
        <pc:spChg chg="mod">
          <ac:chgData name="Deepanshu Goel" userId="e7e2b51fcc6f455b" providerId="LiveId" clId="{A95BF8B0-283B-4C25-B930-B6C6FF10AB2F}" dt="2026-07-31T16:08:01.168" v="286" actId="27636"/>
          <ac:spMkLst>
            <pc:docMk/>
            <pc:sldMk cId="989797046" sldId="269"/>
            <ac:spMk id="3" creationId="{856CC9E4-3EAF-C88B-6251-3C9C17680DA8}"/>
          </ac:spMkLst>
        </pc:spChg>
      </pc:sldChg>
      <pc:sldChg chg="modSp mod">
        <pc:chgData name="Deepanshu Goel" userId="e7e2b51fcc6f455b" providerId="LiveId" clId="{A95BF8B0-283B-4C25-B930-B6C6FF10AB2F}" dt="2026-07-31T16:08:00.921" v="275"/>
        <pc:sldMkLst>
          <pc:docMk/>
          <pc:sldMk cId="1629663259" sldId="270"/>
        </pc:sldMkLst>
        <pc:spChg chg="mod">
          <ac:chgData name="Deepanshu Goel" userId="e7e2b51fcc6f455b" providerId="LiveId" clId="{A95BF8B0-283B-4C25-B930-B6C6FF10AB2F}" dt="2026-07-31T16:08:00.921" v="275"/>
          <ac:spMkLst>
            <pc:docMk/>
            <pc:sldMk cId="1629663259" sldId="270"/>
            <ac:spMk id="2" creationId="{A0573F94-9EBC-45B0-9467-2D62E36F870B}"/>
          </ac:spMkLst>
        </pc:spChg>
        <pc:spChg chg="mod">
          <ac:chgData name="Deepanshu Goel" userId="e7e2b51fcc6f455b" providerId="LiveId" clId="{A95BF8B0-283B-4C25-B930-B6C6FF10AB2F}" dt="2026-07-31T16:08:00.921" v="275"/>
          <ac:spMkLst>
            <pc:docMk/>
            <pc:sldMk cId="1629663259" sldId="270"/>
            <ac:spMk id="3" creationId="{7CBD107F-928D-BD78-52AC-385D947697FB}"/>
          </ac:spMkLst>
        </pc:spChg>
      </pc:sldChg>
      <pc:sldChg chg="modSp mod">
        <pc:chgData name="Deepanshu Goel" userId="e7e2b51fcc6f455b" providerId="LiveId" clId="{A95BF8B0-283B-4C25-B930-B6C6FF10AB2F}" dt="2026-07-31T16:08:01.185" v="287" actId="27636"/>
        <pc:sldMkLst>
          <pc:docMk/>
          <pc:sldMk cId="3717858685" sldId="271"/>
        </pc:sldMkLst>
        <pc:spChg chg="mod">
          <ac:chgData name="Deepanshu Goel" userId="e7e2b51fcc6f455b" providerId="LiveId" clId="{A95BF8B0-283B-4C25-B930-B6C6FF10AB2F}" dt="2026-07-31T16:08:00.921" v="275"/>
          <ac:spMkLst>
            <pc:docMk/>
            <pc:sldMk cId="3717858685" sldId="271"/>
            <ac:spMk id="2" creationId="{70F45CF2-1557-DA61-80F5-674C80AECC53}"/>
          </ac:spMkLst>
        </pc:spChg>
        <pc:spChg chg="mod">
          <ac:chgData name="Deepanshu Goel" userId="e7e2b51fcc6f455b" providerId="LiveId" clId="{A95BF8B0-283B-4C25-B930-B6C6FF10AB2F}" dt="2026-07-31T16:08:01.185" v="287" actId="27636"/>
          <ac:spMkLst>
            <pc:docMk/>
            <pc:sldMk cId="3717858685" sldId="271"/>
            <ac:spMk id="3" creationId="{66518C0D-E65C-3C69-2482-2A3206F4CC04}"/>
          </ac:spMkLst>
        </pc:spChg>
      </pc:sldChg>
      <pc:sldChg chg="modSp mod">
        <pc:chgData name="Deepanshu Goel" userId="e7e2b51fcc6f455b" providerId="LiveId" clId="{A95BF8B0-283B-4C25-B930-B6C6FF10AB2F}" dt="2026-07-31T16:08:01.203" v="288" actId="27636"/>
        <pc:sldMkLst>
          <pc:docMk/>
          <pc:sldMk cId="1432291635" sldId="272"/>
        </pc:sldMkLst>
        <pc:spChg chg="mod">
          <ac:chgData name="Deepanshu Goel" userId="e7e2b51fcc6f455b" providerId="LiveId" clId="{A95BF8B0-283B-4C25-B930-B6C6FF10AB2F}" dt="2026-07-31T16:08:00.921" v="275"/>
          <ac:spMkLst>
            <pc:docMk/>
            <pc:sldMk cId="1432291635" sldId="272"/>
            <ac:spMk id="2" creationId="{BC45B14B-C2BA-37D4-F165-DD7BD2A2F2C6}"/>
          </ac:spMkLst>
        </pc:spChg>
        <pc:spChg chg="mod">
          <ac:chgData name="Deepanshu Goel" userId="e7e2b51fcc6f455b" providerId="LiveId" clId="{A95BF8B0-283B-4C25-B930-B6C6FF10AB2F}" dt="2026-07-31T16:08:01.203" v="288" actId="27636"/>
          <ac:spMkLst>
            <pc:docMk/>
            <pc:sldMk cId="1432291635" sldId="272"/>
            <ac:spMk id="3" creationId="{516FE835-C91E-0986-1992-CDEEB8C8C53D}"/>
          </ac:spMkLst>
        </pc:spChg>
      </pc:sldChg>
      <pc:sldChg chg="modSp mod">
        <pc:chgData name="Deepanshu Goel" userId="e7e2b51fcc6f455b" providerId="LiveId" clId="{A95BF8B0-283B-4C25-B930-B6C6FF10AB2F}" dt="2026-07-31T16:08:01.226" v="289" actId="27636"/>
        <pc:sldMkLst>
          <pc:docMk/>
          <pc:sldMk cId="2224570511" sldId="273"/>
        </pc:sldMkLst>
        <pc:spChg chg="mod">
          <ac:chgData name="Deepanshu Goel" userId="e7e2b51fcc6f455b" providerId="LiveId" clId="{A95BF8B0-283B-4C25-B930-B6C6FF10AB2F}" dt="2026-07-31T16:08:00.921" v="275"/>
          <ac:spMkLst>
            <pc:docMk/>
            <pc:sldMk cId="2224570511" sldId="273"/>
            <ac:spMk id="2" creationId="{D7502D8C-103E-38E8-B35C-EA84EEA8EC32}"/>
          </ac:spMkLst>
        </pc:spChg>
        <pc:spChg chg="mod">
          <ac:chgData name="Deepanshu Goel" userId="e7e2b51fcc6f455b" providerId="LiveId" clId="{A95BF8B0-283B-4C25-B930-B6C6FF10AB2F}" dt="2026-07-31T16:08:01.226" v="289" actId="27636"/>
          <ac:spMkLst>
            <pc:docMk/>
            <pc:sldMk cId="2224570511" sldId="273"/>
            <ac:spMk id="3" creationId="{598E225E-411E-9BDB-831E-AD9F6B5016D2}"/>
          </ac:spMkLst>
        </pc:spChg>
      </pc:sldChg>
      <pc:sldChg chg="modSp mod">
        <pc:chgData name="Deepanshu Goel" userId="e7e2b51fcc6f455b" providerId="LiveId" clId="{A95BF8B0-283B-4C25-B930-B6C6FF10AB2F}" dt="2026-07-31T16:08:01.243" v="290" actId="27636"/>
        <pc:sldMkLst>
          <pc:docMk/>
          <pc:sldMk cId="815803106" sldId="274"/>
        </pc:sldMkLst>
        <pc:spChg chg="mod">
          <ac:chgData name="Deepanshu Goel" userId="e7e2b51fcc6f455b" providerId="LiveId" clId="{A95BF8B0-283B-4C25-B930-B6C6FF10AB2F}" dt="2026-07-31T16:08:00.921" v="275"/>
          <ac:spMkLst>
            <pc:docMk/>
            <pc:sldMk cId="815803106" sldId="274"/>
            <ac:spMk id="2" creationId="{6FDC9C77-F82B-1C93-4DE6-F0FF82E994A8}"/>
          </ac:spMkLst>
        </pc:spChg>
        <pc:spChg chg="mod">
          <ac:chgData name="Deepanshu Goel" userId="e7e2b51fcc6f455b" providerId="LiveId" clId="{A95BF8B0-283B-4C25-B930-B6C6FF10AB2F}" dt="2026-07-31T16:08:01.243" v="290" actId="27636"/>
          <ac:spMkLst>
            <pc:docMk/>
            <pc:sldMk cId="815803106" sldId="274"/>
            <ac:spMk id="3" creationId="{F344E51A-0251-F4BF-B928-15597AB0C18A}"/>
          </ac:spMkLst>
        </pc:spChg>
      </pc:sldChg>
      <pc:sldChg chg="modSp mod">
        <pc:chgData name="Deepanshu Goel" userId="e7e2b51fcc6f455b" providerId="LiveId" clId="{A95BF8B0-283B-4C25-B930-B6C6FF10AB2F}" dt="2026-07-31T16:08:00.921" v="275"/>
        <pc:sldMkLst>
          <pc:docMk/>
          <pc:sldMk cId="4030877158" sldId="275"/>
        </pc:sldMkLst>
        <pc:spChg chg="mod">
          <ac:chgData name="Deepanshu Goel" userId="e7e2b51fcc6f455b" providerId="LiveId" clId="{A95BF8B0-283B-4C25-B930-B6C6FF10AB2F}" dt="2026-07-31T16:08:00.921" v="275"/>
          <ac:spMkLst>
            <pc:docMk/>
            <pc:sldMk cId="4030877158" sldId="275"/>
            <ac:spMk id="2" creationId="{D4C5CF16-C223-82A7-B74A-B5137DF52421}"/>
          </ac:spMkLst>
        </pc:spChg>
        <pc:spChg chg="mod">
          <ac:chgData name="Deepanshu Goel" userId="e7e2b51fcc6f455b" providerId="LiveId" clId="{A95BF8B0-283B-4C25-B930-B6C6FF10AB2F}" dt="2026-07-31T16:08:00.921" v="275"/>
          <ac:spMkLst>
            <pc:docMk/>
            <pc:sldMk cId="4030877158" sldId="275"/>
            <ac:spMk id="3" creationId="{71746C1D-EE9C-0FC3-85F0-081A403D38D9}"/>
          </ac:spMkLst>
        </pc:spChg>
      </pc:sldChg>
      <pc:sldChg chg="modSp new">
        <pc:chgData name="Deepanshu Goel" userId="e7e2b51fcc6f455b" providerId="LiveId" clId="{A95BF8B0-283B-4C25-B930-B6C6FF10AB2F}" dt="2026-07-31T16:08:00.921" v="275"/>
        <pc:sldMkLst>
          <pc:docMk/>
          <pc:sldMk cId="3538524358" sldId="276"/>
        </pc:sldMkLst>
        <pc:spChg chg="mod">
          <ac:chgData name="Deepanshu Goel" userId="e7e2b51fcc6f455b" providerId="LiveId" clId="{A95BF8B0-283B-4C25-B930-B6C6FF10AB2F}" dt="2026-07-31T16:08:00.921" v="275"/>
          <ac:spMkLst>
            <pc:docMk/>
            <pc:sldMk cId="3538524358" sldId="276"/>
            <ac:spMk id="2" creationId="{AFCA0C90-B30E-3FE5-D512-B42C03C2884E}"/>
          </ac:spMkLst>
        </pc:spChg>
        <pc:spChg chg="mod">
          <ac:chgData name="Deepanshu Goel" userId="e7e2b51fcc6f455b" providerId="LiveId" clId="{A95BF8B0-283B-4C25-B930-B6C6FF10AB2F}" dt="2026-07-31T16:08:00.921" v="275"/>
          <ac:spMkLst>
            <pc:docMk/>
            <pc:sldMk cId="3538524358" sldId="276"/>
            <ac:spMk id="3" creationId="{BB7CD7CB-B78C-7157-D374-1671EA6ABE51}"/>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endParaRPr lang="en-IN"/>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936121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2196828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FB50D1DD-08B0-420D-BB71-1A51B7761586}" type="slidenum">
              <a:rPr lang="en-IN" smtClean="0"/>
              <a:t>‹#›</a:t>
            </a:fld>
            <a:endParaRPr lang="en-IN"/>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67067681-EB6D-4999-987E-11AE96BA9ADA}" type="datetimeFigureOut">
              <a:rPr lang="en-IN" smtClean="0"/>
              <a:t>31-07-2026</a:t>
            </a:fld>
            <a:endParaRPr lang="en-IN"/>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endParaRPr lang="en-IN"/>
          </a:p>
        </p:txBody>
      </p:sp>
    </p:spTree>
    <p:extLst>
      <p:ext uri="{BB962C8B-B14F-4D97-AF65-F5344CB8AC3E}">
        <p14:creationId xmlns:p14="http://schemas.microsoft.com/office/powerpoint/2010/main" val="3961948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endParaRPr lang="en-IN"/>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302383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endParaRPr lang="en-IN"/>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FB50D1DD-08B0-420D-BB71-1A51B7761586}" type="slidenum">
              <a:rPr lang="en-IN" smtClean="0"/>
              <a:t>‹#›</a:t>
            </a:fld>
            <a:endParaRPr lang="en-IN"/>
          </a:p>
        </p:txBody>
      </p:sp>
    </p:spTree>
    <p:extLst>
      <p:ext uri="{BB962C8B-B14F-4D97-AF65-F5344CB8AC3E}">
        <p14:creationId xmlns:p14="http://schemas.microsoft.com/office/powerpoint/2010/main" val="1226913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endParaRPr lang="en-IN"/>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517342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FB50D1DD-08B0-420D-BB71-1A51B7761586}" type="slidenum">
              <a:rPr lang="en-IN" smtClean="0"/>
              <a:t>‹#›</a:t>
            </a:fld>
            <a:endParaRPr lang="en-IN"/>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883436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538170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3566774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3851950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25911169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3459122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7844464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8211588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688835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21398109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endParaRPr lang="en-IN"/>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3169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4575453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FB50D1DD-08B0-420D-BB71-1A51B7761586}" type="slidenum">
              <a:rPr lang="en-IN" smtClean="0"/>
              <a:t>‹#›</a:t>
            </a:fld>
            <a:endParaRPr lang="en-IN"/>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8182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FB50D1DD-08B0-420D-BB71-1A51B7761586}" type="slidenum">
              <a:rPr lang="en-IN" smtClean="0"/>
              <a:t>‹#›</a:t>
            </a:fld>
            <a:endParaRPr lang="en-IN"/>
          </a:p>
        </p:txBody>
      </p:sp>
    </p:spTree>
    <p:extLst>
      <p:ext uri="{BB962C8B-B14F-4D97-AF65-F5344CB8AC3E}">
        <p14:creationId xmlns:p14="http://schemas.microsoft.com/office/powerpoint/2010/main" val="3950693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endParaRPr lang="en-IN"/>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67067681-EB6D-4999-987E-11AE96BA9ADA}" type="datetimeFigureOut">
              <a:rPr lang="en-IN" smtClean="0"/>
              <a:t>31-07-2026</a:t>
            </a:fld>
            <a:endParaRPr lang="en-IN"/>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FB50D1DD-08B0-420D-BB71-1A51B7761586}" type="slidenum">
              <a:rPr lang="en-IN" smtClean="0"/>
              <a:t>‹#›</a:t>
            </a:fld>
            <a:endParaRPr lang="en-IN"/>
          </a:p>
        </p:txBody>
      </p:sp>
    </p:spTree>
    <p:extLst>
      <p:ext uri="{BB962C8B-B14F-4D97-AF65-F5344CB8AC3E}">
        <p14:creationId xmlns:p14="http://schemas.microsoft.com/office/powerpoint/2010/main" val="2835841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endParaRPr lang="en-IN"/>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7470980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endParaRPr lang="en-IN"/>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6679640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7753549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13499204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endParaRPr lang="en-IN"/>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270465900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endParaRPr lang="en-IN"/>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9499672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1_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FB50D1DD-08B0-420D-BB71-1A51B7761586}" type="slidenum">
              <a:rPr lang="en-IN" smtClean="0"/>
              <a:t>‹#›</a:t>
            </a:fld>
            <a:endParaRPr lang="en-IN"/>
          </a:p>
        </p:txBody>
      </p:sp>
    </p:spTree>
    <p:extLst>
      <p:ext uri="{BB962C8B-B14F-4D97-AF65-F5344CB8AC3E}">
        <p14:creationId xmlns:p14="http://schemas.microsoft.com/office/powerpoint/2010/main" val="3321072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cSld name="1_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FB50D1DD-08B0-420D-BB71-1A51B7761586}" type="slidenum">
              <a:rPr lang="en-IN" smtClean="0"/>
              <a:t>‹#›</a:t>
            </a:fld>
            <a:endParaRPr lang="en-IN"/>
          </a:p>
        </p:txBody>
      </p:sp>
    </p:spTree>
    <p:extLst>
      <p:ext uri="{BB962C8B-B14F-4D97-AF65-F5344CB8AC3E}">
        <p14:creationId xmlns:p14="http://schemas.microsoft.com/office/powerpoint/2010/main" val="1947230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endParaRPr lang="en-IN"/>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67067681-EB6D-4999-987E-11AE96BA9ADA}" type="datetimeFigureOut">
              <a:rPr lang="en-IN" smtClean="0"/>
              <a:t>31-07-2026</a:t>
            </a:fld>
            <a:endParaRPr lang="en-IN"/>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FB50D1DD-08B0-420D-BB71-1A51B7761586}" type="slidenum">
              <a:rPr lang="en-IN" smtClean="0"/>
              <a:t>‹#›</a:t>
            </a:fld>
            <a:endParaRPr lang="en-IN"/>
          </a:p>
        </p:txBody>
      </p:sp>
    </p:spTree>
    <p:extLst>
      <p:ext uri="{BB962C8B-B14F-4D97-AF65-F5344CB8AC3E}">
        <p14:creationId xmlns:p14="http://schemas.microsoft.com/office/powerpoint/2010/main" val="3703331520"/>
      </p:ext>
    </p:extLst>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 id="2147484200" r:id="rId13"/>
    <p:sldLayoutId id="2147484201" r:id="rId14"/>
    <p:sldLayoutId id="2147484202" r:id="rId15"/>
    <p:sldLayoutId id="2147484203" r:id="rId16"/>
    <p:sldLayoutId id="2147484204" r:id="rId17"/>
    <p:sldLayoutId id="2147484205" r:id="rId18"/>
    <p:sldLayoutId id="2147484206" r:id="rId19"/>
    <p:sldLayoutId id="2147484207" r:id="rId20"/>
    <p:sldLayoutId id="2147484208" r:id="rId21"/>
    <p:sldLayoutId id="2147484209" r:id="rId22"/>
    <p:sldLayoutId id="2147484210" r:id="rId23"/>
    <p:sldLayoutId id="2147484211" r:id="rId24"/>
    <p:sldLayoutId id="2147484212" r:id="rId25"/>
    <p:sldLayoutId id="2147484213" r:id="rId26"/>
    <p:sldLayoutId id="2147484214" r:id="rId27"/>
    <p:sldLayoutId id="2147484215" r:id="rId28"/>
    <p:sldLayoutId id="2147484216" r:id="rId29"/>
  </p:sldLayoutIdLst>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290F8-B700-762E-1210-CD2858004BFB}"/>
              </a:ext>
            </a:extLst>
          </p:cNvPr>
          <p:cNvSpPr>
            <a:spLocks noGrp="1"/>
          </p:cNvSpPr>
          <p:nvPr>
            <p:ph type="title"/>
          </p:nvPr>
        </p:nvSpPr>
        <p:spPr/>
        <p:txBody>
          <a:bodyPr>
            <a:normAutofit/>
          </a:bodyPr>
          <a:lstStyle/>
          <a:p>
            <a:r>
              <a:rPr lang="en-IN" sz="1600" b="1" dirty="0"/>
              <a:t>– </a:t>
            </a:r>
            <a:br>
              <a:rPr lang="en-IN" sz="1600" b="1" dirty="0"/>
            </a:br>
            <a:r>
              <a:rPr lang="en-IN" sz="1600" b="1" dirty="0"/>
              <a:t>Introduction</a:t>
            </a:r>
            <a:br>
              <a:rPr lang="en-IN" sz="1600" b="1" dirty="0"/>
            </a:br>
            <a:r>
              <a:rPr lang="en-IN" sz="1600" dirty="0"/>
              <a:t>Human Resource Analytics uses employee data to improve organizational decision-making. It helps HR departments understand workforce </a:t>
            </a:r>
            <a:r>
              <a:rPr lang="en-IN" sz="1600" dirty="0" err="1"/>
              <a:t>behavior</a:t>
            </a:r>
            <a:r>
              <a:rPr lang="en-IN" sz="1600" dirty="0"/>
              <a:t>, identify performance trends, and reduce employee attrition using data-driven insights.</a:t>
            </a:r>
            <a:br>
              <a:rPr lang="en-IN" sz="1600" dirty="0"/>
            </a:br>
            <a:r>
              <a:rPr lang="en-IN" sz="1600" dirty="0"/>
              <a:t>This project integrates </a:t>
            </a:r>
            <a:r>
              <a:rPr lang="en-IN" sz="1600" b="1" dirty="0"/>
              <a:t>Python, Machine Learning, MySQL, SQL, and Microsoft Power BI</a:t>
            </a:r>
            <a:r>
              <a:rPr lang="en-IN" sz="1600" dirty="0"/>
              <a:t> to predict employee attrition and support HR managers with interactive reports.</a:t>
            </a:r>
            <a:br>
              <a:rPr lang="en-IN" sz="1600" dirty="0"/>
            </a:br>
            <a:r>
              <a:rPr lang="en-IN" sz="1600" b="1" dirty="0"/>
              <a:t>Key Highlights</a:t>
            </a:r>
            <a:br>
              <a:rPr lang="en-IN" sz="1600" b="1" dirty="0"/>
            </a:br>
            <a:r>
              <a:rPr lang="en-IN" sz="1600" dirty="0"/>
              <a:t>HR Data Analytics </a:t>
            </a:r>
            <a:br>
              <a:rPr lang="en-IN" sz="1600" dirty="0"/>
            </a:br>
            <a:r>
              <a:rPr lang="en-IN" sz="1600" dirty="0"/>
              <a:t>AI &amp; Machine Learning </a:t>
            </a:r>
            <a:br>
              <a:rPr lang="en-IN" sz="1600" dirty="0"/>
            </a:br>
            <a:r>
              <a:rPr lang="en-IN" sz="1600" dirty="0"/>
              <a:t>Employee Attrition Prediction </a:t>
            </a:r>
            <a:br>
              <a:rPr lang="en-IN" sz="1600" dirty="0"/>
            </a:br>
            <a:r>
              <a:rPr lang="en-IN" sz="1600" dirty="0"/>
              <a:t>SQL Business Analysis </a:t>
            </a:r>
            <a:br>
              <a:rPr lang="en-IN" sz="1600" dirty="0"/>
            </a:br>
            <a:r>
              <a:rPr lang="en-IN" sz="1600" dirty="0"/>
              <a:t>Interactive Power BI Dashboard</a:t>
            </a:r>
            <a:br>
              <a:rPr lang="en-IN" sz="1600" dirty="0"/>
            </a:br>
            <a:br>
              <a:rPr lang="en-IN" sz="1600" dirty="0"/>
            </a:br>
            <a:br>
              <a:rPr lang="en-IN" sz="1600" dirty="0"/>
            </a:br>
            <a:br>
              <a:rPr lang="en-IN" sz="1600" dirty="0"/>
            </a:br>
            <a:endParaRPr lang="en-IN" sz="1600" dirty="0"/>
          </a:p>
        </p:txBody>
      </p:sp>
      <p:sp>
        <p:nvSpPr>
          <p:cNvPr id="3" name="Subtitle 2">
            <a:extLst>
              <a:ext uri="{FF2B5EF4-FFF2-40B4-BE49-F238E27FC236}">
                <a16:creationId xmlns:a16="http://schemas.microsoft.com/office/drawing/2014/main" id="{86EF5C47-1796-001B-13C5-57B08863456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27819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A0C90-B30E-3FE5-D512-B42C03C2884E}"/>
              </a:ext>
            </a:extLst>
          </p:cNvPr>
          <p:cNvSpPr>
            <a:spLocks noGrp="1"/>
          </p:cNvSpPr>
          <p:nvPr>
            <p:ph type="title"/>
          </p:nvPr>
        </p:nvSpPr>
        <p:spPr/>
        <p:txBody>
          <a:bodyPr/>
          <a:lstStyle/>
          <a:p>
            <a:endParaRPr lang="en-IN"/>
          </a:p>
        </p:txBody>
      </p:sp>
      <p:sp>
        <p:nvSpPr>
          <p:cNvPr id="3" name="Subtitle 2">
            <a:extLst>
              <a:ext uri="{FF2B5EF4-FFF2-40B4-BE49-F238E27FC236}">
                <a16:creationId xmlns:a16="http://schemas.microsoft.com/office/drawing/2014/main" id="{BB7CD7CB-B78C-7157-D374-1671EA6ABE5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538524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11F624-B8DE-0D08-6BAF-106DD5BC2BE0}"/>
              </a:ext>
            </a:extLst>
          </p:cNvPr>
          <p:cNvSpPr>
            <a:spLocks noGrp="1"/>
          </p:cNvSpPr>
          <p:nvPr>
            <p:ph type="title"/>
          </p:nvPr>
        </p:nvSpPr>
        <p:spPr/>
        <p:txBody>
          <a:bodyPr>
            <a:normAutofit/>
          </a:bodyPr>
          <a:lstStyle/>
          <a:p>
            <a:endParaRPr lang="en-IN" sz="1200" dirty="0"/>
          </a:p>
        </p:txBody>
      </p:sp>
      <p:sp>
        <p:nvSpPr>
          <p:cNvPr id="3" name="Content Placeholder 2">
            <a:extLst>
              <a:ext uri="{FF2B5EF4-FFF2-40B4-BE49-F238E27FC236}">
                <a16:creationId xmlns:a16="http://schemas.microsoft.com/office/drawing/2014/main" id="{3125968B-D890-3CF1-A834-C1F788F2E2B5}"/>
              </a:ext>
            </a:extLst>
          </p:cNvPr>
          <p:cNvSpPr>
            <a:spLocks noGrp="1"/>
          </p:cNvSpPr>
          <p:nvPr>
            <p:ph idx="1"/>
          </p:nvPr>
        </p:nvSpPr>
        <p:spPr/>
        <p:txBody>
          <a:bodyPr>
            <a:normAutofit lnSpcReduction="10000"/>
          </a:bodyPr>
          <a:lstStyle/>
          <a:p>
            <a:pPr marL="0" indent="0">
              <a:buNone/>
            </a:pPr>
            <a:endParaRPr lang="en-IN" b="1" dirty="0"/>
          </a:p>
          <a:p>
            <a:r>
              <a:rPr lang="en-IN" b="1" dirty="0"/>
              <a:t>Problem Statement</a:t>
            </a:r>
          </a:p>
          <a:p>
            <a:r>
              <a:rPr lang="en-IN" dirty="0"/>
              <a:t>Organizations face high employee turnover, increasing recruitment costs and reducing productivity. Traditional HR systems provide historical reports but cannot predict future employee attrition.</a:t>
            </a:r>
          </a:p>
          <a:p>
            <a:r>
              <a:rPr lang="en-IN" b="1" dirty="0"/>
              <a:t>Existing Challenges</a:t>
            </a:r>
          </a:p>
          <a:p>
            <a:r>
              <a:rPr lang="en-IN" dirty="0"/>
              <a:t>High Attrition Rate </a:t>
            </a:r>
          </a:p>
          <a:p>
            <a:r>
              <a:rPr lang="en-IN" dirty="0"/>
              <a:t>Manual HR Analysis </a:t>
            </a:r>
          </a:p>
          <a:p>
            <a:r>
              <a:rPr lang="en-IN" dirty="0"/>
              <a:t>No Predictive System </a:t>
            </a:r>
          </a:p>
          <a:p>
            <a:r>
              <a:rPr lang="en-IN" dirty="0"/>
              <a:t>Poor Workforce Planning </a:t>
            </a:r>
          </a:p>
          <a:p>
            <a:r>
              <a:rPr lang="en-IN" b="1" dirty="0"/>
              <a:t>Proposed Solution</a:t>
            </a:r>
          </a:p>
          <a:p>
            <a:r>
              <a:rPr lang="en-IN" dirty="0"/>
              <a:t>Develop an AI-based HR Analytics system that predicts employee attrition and provides business insights through SQL and Power BI dashboards.</a:t>
            </a:r>
          </a:p>
          <a:p>
            <a:endParaRPr lang="en-IN" dirty="0"/>
          </a:p>
        </p:txBody>
      </p:sp>
    </p:spTree>
    <p:extLst>
      <p:ext uri="{BB962C8B-B14F-4D97-AF65-F5344CB8AC3E}">
        <p14:creationId xmlns:p14="http://schemas.microsoft.com/office/powerpoint/2010/main" val="517019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8B8EB-04B8-1342-C127-DF33FE36897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F38405B-8ECB-7438-C899-5B739E435A5D}"/>
              </a:ext>
            </a:extLst>
          </p:cNvPr>
          <p:cNvSpPr>
            <a:spLocks noGrp="1"/>
          </p:cNvSpPr>
          <p:nvPr>
            <p:ph idx="1"/>
          </p:nvPr>
        </p:nvSpPr>
        <p:spPr/>
        <p:txBody>
          <a:bodyPr>
            <a:normAutofit lnSpcReduction="10000"/>
          </a:bodyPr>
          <a:lstStyle/>
          <a:p>
            <a:r>
              <a:rPr lang="en-IN" b="1" dirty="0"/>
              <a:t>Objectives</a:t>
            </a:r>
          </a:p>
          <a:p>
            <a:r>
              <a:rPr lang="en-IN" b="1" dirty="0"/>
              <a:t>Project Objectives</a:t>
            </a:r>
          </a:p>
          <a:p>
            <a:r>
              <a:rPr lang="en-IN" b="1" dirty="0"/>
              <a:t>Primary Objective</a:t>
            </a:r>
          </a:p>
          <a:p>
            <a:r>
              <a:rPr lang="en-IN" dirty="0"/>
              <a:t>Develop an AI-powered HR Analytics system to predict employee attrition using Machine Learning.</a:t>
            </a:r>
          </a:p>
          <a:p>
            <a:r>
              <a:rPr lang="en-IN" b="1" dirty="0"/>
              <a:t>Specific Objectives</a:t>
            </a:r>
          </a:p>
          <a:p>
            <a:r>
              <a:rPr lang="en-IN" dirty="0" err="1"/>
              <a:t>Analyze</a:t>
            </a:r>
            <a:r>
              <a:rPr lang="en-IN" dirty="0"/>
              <a:t> employee data </a:t>
            </a:r>
          </a:p>
          <a:p>
            <a:r>
              <a:rPr lang="en-IN" dirty="0"/>
              <a:t>Perform data preprocessing </a:t>
            </a:r>
          </a:p>
          <a:p>
            <a:r>
              <a:rPr lang="en-IN" dirty="0"/>
              <a:t>Build Machine Learning model </a:t>
            </a:r>
          </a:p>
          <a:p>
            <a:r>
              <a:rPr lang="en-IN" dirty="0"/>
              <a:t>Execute SQL analysis </a:t>
            </a:r>
          </a:p>
          <a:p>
            <a:r>
              <a:rPr lang="en-IN" dirty="0"/>
              <a:t>Develop Power BI dashboard </a:t>
            </a:r>
          </a:p>
          <a:p>
            <a:r>
              <a:rPr lang="en-IN" dirty="0"/>
              <a:t>Support HR decision-making</a:t>
            </a:r>
          </a:p>
          <a:p>
            <a:endParaRPr lang="en-IN" dirty="0"/>
          </a:p>
        </p:txBody>
      </p:sp>
    </p:spTree>
    <p:extLst>
      <p:ext uri="{BB962C8B-B14F-4D97-AF65-F5344CB8AC3E}">
        <p14:creationId xmlns:p14="http://schemas.microsoft.com/office/powerpoint/2010/main" val="2326247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5516-D8B0-B5BD-B0B9-20A36FAD60E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721D35-F126-BD6E-B98B-BD06CD5572F0}"/>
              </a:ext>
            </a:extLst>
          </p:cNvPr>
          <p:cNvSpPr>
            <a:spLocks noGrp="1"/>
          </p:cNvSpPr>
          <p:nvPr>
            <p:ph idx="1"/>
          </p:nvPr>
        </p:nvSpPr>
        <p:spPr/>
        <p:txBody>
          <a:bodyPr>
            <a:normAutofit/>
          </a:bodyPr>
          <a:lstStyle/>
          <a:p>
            <a:r>
              <a:rPr lang="en-IN" b="1" dirty="0"/>
              <a:t>Literature Review</a:t>
            </a:r>
          </a:p>
          <a:p>
            <a:r>
              <a:rPr lang="en-IN" dirty="0"/>
              <a:t>Previous research shows that HR Analytics and Machine Learning improve employee retention by identifying attrition patterns. Business Intelligence tools such as Power BI help visualize HR data and support better decision-making.</a:t>
            </a:r>
          </a:p>
          <a:p>
            <a:r>
              <a:rPr lang="en-IN" b="1" dirty="0"/>
              <a:t>Key Findings</a:t>
            </a:r>
          </a:p>
          <a:p>
            <a:r>
              <a:rPr lang="en-IN" dirty="0"/>
              <a:t>HR Analytics improves workforce planning. </a:t>
            </a:r>
          </a:p>
          <a:p>
            <a:r>
              <a:rPr lang="en-IN" dirty="0"/>
              <a:t>Machine Learning predicts attrition. </a:t>
            </a:r>
          </a:p>
          <a:p>
            <a:r>
              <a:rPr lang="en-IN" dirty="0"/>
              <a:t>SQL enables structured analysis. </a:t>
            </a:r>
          </a:p>
          <a:p>
            <a:r>
              <a:rPr lang="en-IN" dirty="0"/>
              <a:t>Power BI provides interactive dashboards</a:t>
            </a:r>
          </a:p>
          <a:p>
            <a:endParaRPr lang="en-IN" dirty="0"/>
          </a:p>
        </p:txBody>
      </p:sp>
    </p:spTree>
    <p:extLst>
      <p:ext uri="{BB962C8B-B14F-4D97-AF65-F5344CB8AC3E}">
        <p14:creationId xmlns:p14="http://schemas.microsoft.com/office/powerpoint/2010/main" val="2598446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CC35D-446B-CB91-5CE8-D325C322D30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D439B62-0059-849B-EF26-E4FC8FEF310F}"/>
              </a:ext>
            </a:extLst>
          </p:cNvPr>
          <p:cNvSpPr>
            <a:spLocks noGrp="1"/>
          </p:cNvSpPr>
          <p:nvPr>
            <p:ph idx="1"/>
          </p:nvPr>
        </p:nvSpPr>
        <p:spPr/>
        <p:txBody>
          <a:bodyPr>
            <a:normAutofit fontScale="70000" lnSpcReduction="20000"/>
          </a:bodyPr>
          <a:lstStyle/>
          <a:p>
            <a:r>
              <a:rPr lang="en-IN" b="1" dirty="0"/>
              <a:t>Existing System vs Proposed System</a:t>
            </a:r>
          </a:p>
          <a:p>
            <a:r>
              <a:rPr lang="en-IN" b="1" dirty="0"/>
              <a:t>Existing System</a:t>
            </a:r>
          </a:p>
          <a:p>
            <a:r>
              <a:rPr lang="en-IN" dirty="0"/>
              <a:t>Manual HR reporting </a:t>
            </a:r>
          </a:p>
          <a:p>
            <a:r>
              <a:rPr lang="en-IN" dirty="0"/>
              <a:t>Time-consuming analysis </a:t>
            </a:r>
          </a:p>
          <a:p>
            <a:r>
              <a:rPr lang="en-IN" dirty="0"/>
              <a:t>No employee attrition prediction </a:t>
            </a:r>
          </a:p>
          <a:p>
            <a:r>
              <a:rPr lang="en-IN" dirty="0"/>
              <a:t>Static reports </a:t>
            </a:r>
          </a:p>
          <a:p>
            <a:r>
              <a:rPr lang="en-IN" dirty="0"/>
              <a:t>Limited business insights </a:t>
            </a:r>
          </a:p>
          <a:p>
            <a:r>
              <a:rPr lang="en-IN" b="1" dirty="0"/>
              <a:t>Proposed System</a:t>
            </a:r>
          </a:p>
          <a:p>
            <a:r>
              <a:rPr lang="en-IN" dirty="0"/>
              <a:t>AI-based attrition prediction </a:t>
            </a:r>
          </a:p>
          <a:p>
            <a:r>
              <a:rPr lang="en-IN" dirty="0"/>
              <a:t>Automated data analysis </a:t>
            </a:r>
          </a:p>
          <a:p>
            <a:r>
              <a:rPr lang="en-IN" dirty="0"/>
              <a:t>Machine Learning model </a:t>
            </a:r>
          </a:p>
          <a:p>
            <a:r>
              <a:rPr lang="en-IN" dirty="0"/>
              <a:t>SQL business insights </a:t>
            </a:r>
          </a:p>
          <a:p>
            <a:r>
              <a:rPr lang="en-IN" dirty="0"/>
              <a:t>Interactive Power BI dashboard </a:t>
            </a:r>
          </a:p>
          <a:p>
            <a:r>
              <a:rPr lang="en-IN" b="1" dirty="0"/>
              <a:t>Outcome</a:t>
            </a:r>
          </a:p>
          <a:p>
            <a:r>
              <a:rPr lang="en-IN" dirty="0"/>
              <a:t>The proposed system enables HR managers to make faster, smarter, and data-driven decisions.</a:t>
            </a:r>
          </a:p>
          <a:p>
            <a:endParaRPr lang="en-IN" dirty="0"/>
          </a:p>
        </p:txBody>
      </p:sp>
    </p:spTree>
    <p:extLst>
      <p:ext uri="{BB962C8B-B14F-4D97-AF65-F5344CB8AC3E}">
        <p14:creationId xmlns:p14="http://schemas.microsoft.com/office/powerpoint/2010/main" val="1347096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04CDE-8243-A342-13BE-84B242C5EA0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A6962B5-98C9-6018-6E9D-60DF69A85ACF}"/>
              </a:ext>
            </a:extLst>
          </p:cNvPr>
          <p:cNvSpPr>
            <a:spLocks noGrp="1"/>
          </p:cNvSpPr>
          <p:nvPr>
            <p:ph idx="1"/>
          </p:nvPr>
        </p:nvSpPr>
        <p:spPr/>
        <p:txBody>
          <a:bodyPr>
            <a:normAutofit fontScale="40000" lnSpcReduction="20000"/>
          </a:bodyPr>
          <a:lstStyle/>
          <a:p>
            <a:r>
              <a:rPr lang="en-IN" b="1" dirty="0"/>
              <a:t>System Architecture</a:t>
            </a:r>
          </a:p>
          <a:p>
            <a:r>
              <a:rPr lang="en-IN" b="1" dirty="0"/>
              <a:t>System Architecture</a:t>
            </a:r>
          </a:p>
          <a:p>
            <a:r>
              <a:rPr lang="en-IN" dirty="0"/>
              <a:t>The project follows a structured workflow where employee data is processed through different stages to generate meaningful insights and predictions.</a:t>
            </a:r>
          </a:p>
          <a:p>
            <a:r>
              <a:rPr lang="en-IN" b="1" dirty="0"/>
              <a:t>Workflow</a:t>
            </a:r>
          </a:p>
          <a:p>
            <a:r>
              <a:rPr lang="en-IN" dirty="0"/>
              <a:t>Employee Dataset</a:t>
            </a:r>
          </a:p>
          <a:p>
            <a:r>
              <a:rPr lang="en-IN" dirty="0"/>
              <a:t>⬇</a:t>
            </a:r>
          </a:p>
          <a:p>
            <a:r>
              <a:rPr lang="en-IN" dirty="0"/>
              <a:t>Data Cleaning &amp; Preprocessing</a:t>
            </a:r>
          </a:p>
          <a:p>
            <a:r>
              <a:rPr lang="en-IN" dirty="0"/>
              <a:t>⬇</a:t>
            </a:r>
          </a:p>
          <a:p>
            <a:r>
              <a:rPr lang="en-IN" dirty="0"/>
              <a:t>Exploratory Data Analysis (EDA)</a:t>
            </a:r>
          </a:p>
          <a:p>
            <a:r>
              <a:rPr lang="en-IN" dirty="0"/>
              <a:t>⬇</a:t>
            </a:r>
          </a:p>
          <a:p>
            <a:r>
              <a:rPr lang="en-IN" dirty="0"/>
              <a:t>Machine Learning Model</a:t>
            </a:r>
          </a:p>
          <a:p>
            <a:r>
              <a:rPr lang="en-IN" dirty="0"/>
              <a:t>⬇</a:t>
            </a:r>
          </a:p>
          <a:p>
            <a:r>
              <a:rPr lang="en-IN" dirty="0"/>
              <a:t>MySQL Database</a:t>
            </a:r>
          </a:p>
          <a:p>
            <a:r>
              <a:rPr lang="en-IN" dirty="0"/>
              <a:t>⬇</a:t>
            </a:r>
          </a:p>
          <a:p>
            <a:r>
              <a:rPr lang="en-IN" dirty="0"/>
              <a:t>SQL Analysis</a:t>
            </a:r>
          </a:p>
          <a:p>
            <a:r>
              <a:rPr lang="en-IN" dirty="0"/>
              <a:t>⬇</a:t>
            </a:r>
          </a:p>
          <a:p>
            <a:r>
              <a:rPr lang="en-IN" dirty="0"/>
              <a:t>Power BI Dashboard</a:t>
            </a:r>
          </a:p>
          <a:p>
            <a:r>
              <a:rPr lang="en-IN" dirty="0"/>
              <a:t>⬇</a:t>
            </a:r>
          </a:p>
          <a:p>
            <a:r>
              <a:rPr lang="en-IN" dirty="0"/>
              <a:t>Employee Attrition Prediction</a:t>
            </a:r>
          </a:p>
          <a:p>
            <a:endParaRPr lang="en-IN" dirty="0"/>
          </a:p>
        </p:txBody>
      </p:sp>
    </p:spTree>
    <p:extLst>
      <p:ext uri="{BB962C8B-B14F-4D97-AF65-F5344CB8AC3E}">
        <p14:creationId xmlns:p14="http://schemas.microsoft.com/office/powerpoint/2010/main" val="3068225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6D667-D676-5C35-3B56-6E3E4939876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75CD43E-BB71-C4F4-FE31-59CDF4CE77A9}"/>
              </a:ext>
            </a:extLst>
          </p:cNvPr>
          <p:cNvSpPr>
            <a:spLocks noGrp="1"/>
          </p:cNvSpPr>
          <p:nvPr>
            <p:ph idx="1"/>
          </p:nvPr>
        </p:nvSpPr>
        <p:spPr/>
        <p:txBody>
          <a:bodyPr>
            <a:normAutofit fontScale="85000" lnSpcReduction="10000"/>
          </a:bodyPr>
          <a:lstStyle/>
          <a:p>
            <a:r>
              <a:rPr lang="en-IN" b="1" dirty="0"/>
              <a:t>Project Methodology</a:t>
            </a:r>
          </a:p>
          <a:p>
            <a:r>
              <a:rPr lang="en-IN" b="1" dirty="0"/>
              <a:t>Methodology</a:t>
            </a:r>
          </a:p>
          <a:p>
            <a:r>
              <a:rPr lang="en-IN" dirty="0"/>
              <a:t>The project was implemented using the following phases:</a:t>
            </a:r>
          </a:p>
          <a:p>
            <a:r>
              <a:rPr lang="en-IN" dirty="0"/>
              <a:t>Data Collection </a:t>
            </a:r>
          </a:p>
          <a:p>
            <a:r>
              <a:rPr lang="en-IN" dirty="0"/>
              <a:t>Data Cleaning </a:t>
            </a:r>
          </a:p>
          <a:p>
            <a:r>
              <a:rPr lang="en-IN" dirty="0"/>
              <a:t>Data Preprocessing </a:t>
            </a:r>
          </a:p>
          <a:p>
            <a:r>
              <a:rPr lang="en-IN" dirty="0"/>
              <a:t>Exploratory Data Analysis (EDA) </a:t>
            </a:r>
          </a:p>
          <a:p>
            <a:r>
              <a:rPr lang="en-IN" dirty="0"/>
              <a:t>Machine Learning Model Development </a:t>
            </a:r>
          </a:p>
          <a:p>
            <a:r>
              <a:rPr lang="en-IN" dirty="0"/>
              <a:t>SQL Database Analysis </a:t>
            </a:r>
          </a:p>
          <a:p>
            <a:r>
              <a:rPr lang="en-IN" dirty="0"/>
              <a:t>Dashboard Development in Power BI </a:t>
            </a:r>
          </a:p>
          <a:p>
            <a:r>
              <a:rPr lang="en-IN" dirty="0"/>
              <a:t>Result Evaluation </a:t>
            </a:r>
          </a:p>
          <a:p>
            <a:r>
              <a:rPr lang="en-IN" b="1" dirty="0"/>
              <a:t>Outcome</a:t>
            </a:r>
          </a:p>
          <a:p>
            <a:r>
              <a:rPr lang="en-IN" dirty="0"/>
              <a:t>Each phase contributes to building a complete HR Analytics solution.</a:t>
            </a:r>
          </a:p>
          <a:p>
            <a:endParaRPr lang="en-IN" dirty="0"/>
          </a:p>
        </p:txBody>
      </p:sp>
    </p:spTree>
    <p:extLst>
      <p:ext uri="{BB962C8B-B14F-4D97-AF65-F5344CB8AC3E}">
        <p14:creationId xmlns:p14="http://schemas.microsoft.com/office/powerpoint/2010/main" val="1753970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159B3-F47E-F2A5-E211-3FBF75C1F13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CE777B-57F8-25D1-57A0-471CACCE1EFB}"/>
              </a:ext>
            </a:extLst>
          </p:cNvPr>
          <p:cNvSpPr>
            <a:spLocks noGrp="1"/>
          </p:cNvSpPr>
          <p:nvPr>
            <p:ph idx="1"/>
          </p:nvPr>
        </p:nvSpPr>
        <p:spPr/>
        <p:txBody>
          <a:bodyPr>
            <a:normAutofit fontScale="55000" lnSpcReduction="20000"/>
          </a:bodyPr>
          <a:lstStyle/>
          <a:p>
            <a:r>
              <a:rPr lang="en-IN" b="1" dirty="0"/>
              <a:t>Dataset Description</a:t>
            </a:r>
          </a:p>
          <a:p>
            <a:r>
              <a:rPr lang="en-IN" b="1" dirty="0"/>
              <a:t>IBM HR Analytics Dataset</a:t>
            </a:r>
          </a:p>
          <a:p>
            <a:r>
              <a:rPr lang="en-IN" b="1" dirty="0"/>
              <a:t>Dataset Information</a:t>
            </a:r>
          </a:p>
          <a:p>
            <a:r>
              <a:rPr lang="en-IN" dirty="0"/>
              <a:t>Total Employees: </a:t>
            </a:r>
            <a:r>
              <a:rPr lang="en-IN" b="1" dirty="0"/>
              <a:t>1470</a:t>
            </a:r>
            <a:r>
              <a:rPr lang="en-IN" dirty="0"/>
              <a:t> </a:t>
            </a:r>
          </a:p>
          <a:p>
            <a:r>
              <a:rPr lang="en-IN" dirty="0"/>
              <a:t>Total Features: </a:t>
            </a:r>
            <a:r>
              <a:rPr lang="en-IN" b="1" dirty="0"/>
              <a:t>35</a:t>
            </a:r>
            <a:r>
              <a:rPr lang="en-IN" dirty="0"/>
              <a:t> </a:t>
            </a:r>
          </a:p>
          <a:p>
            <a:r>
              <a:rPr lang="en-IN" dirty="0"/>
              <a:t>Target Variable: </a:t>
            </a:r>
            <a:r>
              <a:rPr lang="en-IN" b="1" dirty="0"/>
              <a:t>Attrition</a:t>
            </a:r>
            <a:r>
              <a:rPr lang="en-IN" dirty="0"/>
              <a:t> </a:t>
            </a:r>
          </a:p>
          <a:p>
            <a:r>
              <a:rPr lang="en-IN" b="1" dirty="0"/>
              <a:t>Important Attributes</a:t>
            </a:r>
          </a:p>
          <a:p>
            <a:r>
              <a:rPr lang="en-IN" dirty="0"/>
              <a:t>Age </a:t>
            </a:r>
          </a:p>
          <a:p>
            <a:r>
              <a:rPr lang="en-IN" dirty="0"/>
              <a:t>Department </a:t>
            </a:r>
          </a:p>
          <a:p>
            <a:r>
              <a:rPr lang="en-IN" dirty="0"/>
              <a:t>Job Role </a:t>
            </a:r>
          </a:p>
          <a:p>
            <a:r>
              <a:rPr lang="en-IN" dirty="0"/>
              <a:t>Monthly Income </a:t>
            </a:r>
          </a:p>
          <a:p>
            <a:r>
              <a:rPr lang="en-IN" dirty="0" err="1"/>
              <a:t>OverTime</a:t>
            </a:r>
            <a:r>
              <a:rPr lang="en-IN" dirty="0"/>
              <a:t> </a:t>
            </a:r>
          </a:p>
          <a:p>
            <a:r>
              <a:rPr lang="en-IN" dirty="0"/>
              <a:t>Job Satisfaction </a:t>
            </a:r>
          </a:p>
          <a:p>
            <a:r>
              <a:rPr lang="en-IN" dirty="0"/>
              <a:t>Work-Life Balance </a:t>
            </a:r>
          </a:p>
          <a:p>
            <a:r>
              <a:rPr lang="en-IN" dirty="0"/>
              <a:t>Years at Company </a:t>
            </a:r>
          </a:p>
          <a:p>
            <a:r>
              <a:rPr lang="en-IN" b="1" dirty="0"/>
              <a:t>Purpose</a:t>
            </a:r>
          </a:p>
          <a:p>
            <a:r>
              <a:rPr lang="en-IN" dirty="0"/>
              <a:t>The dataset is used to identify employee </a:t>
            </a:r>
            <a:r>
              <a:rPr lang="en-IN" dirty="0" err="1"/>
              <a:t>behavior</a:t>
            </a:r>
            <a:r>
              <a:rPr lang="en-IN" dirty="0"/>
              <a:t> patterns and predict attrition</a:t>
            </a:r>
          </a:p>
          <a:p>
            <a:endParaRPr lang="en-IN" dirty="0"/>
          </a:p>
        </p:txBody>
      </p:sp>
    </p:spTree>
    <p:extLst>
      <p:ext uri="{BB962C8B-B14F-4D97-AF65-F5344CB8AC3E}">
        <p14:creationId xmlns:p14="http://schemas.microsoft.com/office/powerpoint/2010/main" val="3927533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3CCC-CE8F-AD9C-F022-4991D4B29E4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77DC40-D5CB-0631-6326-062C6890DEC8}"/>
              </a:ext>
            </a:extLst>
          </p:cNvPr>
          <p:cNvSpPr>
            <a:spLocks noGrp="1"/>
          </p:cNvSpPr>
          <p:nvPr>
            <p:ph idx="1"/>
          </p:nvPr>
        </p:nvSpPr>
        <p:spPr/>
        <p:txBody>
          <a:bodyPr>
            <a:normAutofit fontScale="70000" lnSpcReduction="20000"/>
          </a:bodyPr>
          <a:lstStyle/>
          <a:p>
            <a:r>
              <a:rPr lang="en-IN" b="1" dirty="0"/>
              <a:t>Python Analysis &amp; Machine Learning</a:t>
            </a:r>
          </a:p>
          <a:p>
            <a:r>
              <a:rPr lang="en-IN" b="1" dirty="0"/>
              <a:t>Python Implementation</a:t>
            </a:r>
          </a:p>
          <a:p>
            <a:r>
              <a:rPr lang="en-IN" b="1" dirty="0"/>
              <a:t>Libraries Used</a:t>
            </a:r>
          </a:p>
          <a:p>
            <a:r>
              <a:rPr lang="en-IN" dirty="0"/>
              <a:t>Pandas </a:t>
            </a:r>
          </a:p>
          <a:p>
            <a:r>
              <a:rPr lang="en-IN" dirty="0"/>
              <a:t>NumPy </a:t>
            </a:r>
          </a:p>
          <a:p>
            <a:r>
              <a:rPr lang="en-IN" dirty="0"/>
              <a:t>Matplotlib </a:t>
            </a:r>
          </a:p>
          <a:p>
            <a:r>
              <a:rPr lang="en-IN" dirty="0"/>
              <a:t>Scikit-learn </a:t>
            </a:r>
          </a:p>
          <a:p>
            <a:r>
              <a:rPr lang="en-IN" b="1" dirty="0"/>
              <a:t>Tasks Performed</a:t>
            </a:r>
          </a:p>
          <a:p>
            <a:r>
              <a:rPr lang="en-IN" dirty="0"/>
              <a:t>Data Cleaning </a:t>
            </a:r>
          </a:p>
          <a:p>
            <a:r>
              <a:rPr lang="en-IN" dirty="0"/>
              <a:t>Exploratory Data Analysis </a:t>
            </a:r>
          </a:p>
          <a:p>
            <a:r>
              <a:rPr lang="en-IN" dirty="0"/>
              <a:t>Feature Selection </a:t>
            </a:r>
          </a:p>
          <a:p>
            <a:r>
              <a:rPr lang="en-IN" dirty="0"/>
              <a:t>Machine Learning Model Training </a:t>
            </a:r>
          </a:p>
          <a:p>
            <a:r>
              <a:rPr lang="en-IN" dirty="0"/>
              <a:t>Employee Attrition Prediction </a:t>
            </a:r>
          </a:p>
          <a:p>
            <a:r>
              <a:rPr lang="en-IN" b="1" dirty="0"/>
              <a:t>Result</a:t>
            </a:r>
          </a:p>
          <a:p>
            <a:r>
              <a:rPr lang="en-IN" dirty="0"/>
              <a:t>The trained model successfully predicts employees who are at a higher risk of leaving the organization.</a:t>
            </a:r>
          </a:p>
          <a:p>
            <a:endParaRPr lang="en-IN" dirty="0"/>
          </a:p>
          <a:p>
            <a:endParaRPr lang="en-IN" dirty="0"/>
          </a:p>
        </p:txBody>
      </p:sp>
    </p:spTree>
    <p:extLst>
      <p:ext uri="{BB962C8B-B14F-4D97-AF65-F5344CB8AC3E}">
        <p14:creationId xmlns:p14="http://schemas.microsoft.com/office/powerpoint/2010/main" val="3185617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1E066-A2F9-F35A-F228-E121C9CB5A9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452D06E-253B-1528-4E99-088A4B93A350}"/>
              </a:ext>
            </a:extLst>
          </p:cNvPr>
          <p:cNvSpPr>
            <a:spLocks noGrp="1"/>
          </p:cNvSpPr>
          <p:nvPr>
            <p:ph idx="1"/>
          </p:nvPr>
        </p:nvSpPr>
        <p:spPr/>
        <p:txBody>
          <a:bodyPr>
            <a:normAutofit fontScale="77500" lnSpcReduction="20000"/>
          </a:bodyPr>
          <a:lstStyle/>
          <a:p>
            <a:r>
              <a:rPr lang="en-IN" b="1" dirty="0"/>
              <a:t>Machine Learning Model</a:t>
            </a:r>
          </a:p>
          <a:p>
            <a:r>
              <a:rPr lang="en-IN" b="1" dirty="0"/>
              <a:t>Machine Learning Implementation</a:t>
            </a:r>
          </a:p>
          <a:p>
            <a:r>
              <a:rPr lang="en-IN" dirty="0"/>
              <a:t>Machine Learning is used to predict whether an employee is likely to leave the organization based on historical HR data.</a:t>
            </a:r>
          </a:p>
          <a:p>
            <a:r>
              <a:rPr lang="en-IN" b="1" dirty="0"/>
              <a:t>Process</a:t>
            </a:r>
          </a:p>
          <a:p>
            <a:r>
              <a:rPr lang="en-IN" dirty="0"/>
              <a:t>Data Preprocessing </a:t>
            </a:r>
          </a:p>
          <a:p>
            <a:r>
              <a:rPr lang="en-IN" dirty="0"/>
              <a:t>Feature Selection </a:t>
            </a:r>
          </a:p>
          <a:p>
            <a:r>
              <a:rPr lang="en-IN" dirty="0"/>
              <a:t>Train-Test Split </a:t>
            </a:r>
          </a:p>
          <a:p>
            <a:r>
              <a:rPr lang="en-IN" dirty="0"/>
              <a:t>Model Training </a:t>
            </a:r>
          </a:p>
          <a:p>
            <a:r>
              <a:rPr lang="en-IN" dirty="0"/>
              <a:t>Prediction </a:t>
            </a:r>
          </a:p>
          <a:p>
            <a:r>
              <a:rPr lang="en-IN" dirty="0"/>
              <a:t>Model Evaluation </a:t>
            </a:r>
          </a:p>
          <a:p>
            <a:r>
              <a:rPr lang="en-IN" b="1" dirty="0"/>
              <a:t>Key Benefits</a:t>
            </a:r>
          </a:p>
          <a:p>
            <a:r>
              <a:rPr lang="en-IN" dirty="0"/>
              <a:t>Predicts employee attrition </a:t>
            </a:r>
          </a:p>
          <a:p>
            <a:r>
              <a:rPr lang="en-IN" dirty="0"/>
              <a:t>Improves HR decision-making </a:t>
            </a:r>
          </a:p>
          <a:p>
            <a:r>
              <a:rPr lang="en-IN" dirty="0"/>
              <a:t>Supports employee retention strategies</a:t>
            </a:r>
          </a:p>
          <a:p>
            <a:endParaRPr lang="en-IN" dirty="0"/>
          </a:p>
        </p:txBody>
      </p:sp>
    </p:spTree>
    <p:extLst>
      <p:ext uri="{BB962C8B-B14F-4D97-AF65-F5344CB8AC3E}">
        <p14:creationId xmlns:p14="http://schemas.microsoft.com/office/powerpoint/2010/main" val="36636296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BDF21-D001-8FA5-A95E-760E29F2957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3F6FCE3-3516-C4A9-3936-6CA688234557}"/>
              </a:ext>
            </a:extLst>
          </p:cNvPr>
          <p:cNvSpPr>
            <a:spLocks noGrp="1"/>
          </p:cNvSpPr>
          <p:nvPr>
            <p:ph idx="1"/>
          </p:nvPr>
        </p:nvSpPr>
        <p:spPr/>
        <p:txBody>
          <a:bodyPr>
            <a:normAutofit fontScale="85000" lnSpcReduction="10000"/>
          </a:bodyPr>
          <a:lstStyle/>
          <a:p>
            <a:r>
              <a:rPr lang="en-IN" b="1" dirty="0"/>
              <a:t>MySQL Database</a:t>
            </a:r>
          </a:p>
          <a:p>
            <a:r>
              <a:rPr lang="en-IN" b="1" dirty="0"/>
              <a:t>Database Management</a:t>
            </a:r>
          </a:p>
          <a:p>
            <a:r>
              <a:rPr lang="en-IN" dirty="0"/>
              <a:t>MySQL was used to store and manage employee data efficiently.</a:t>
            </a:r>
          </a:p>
          <a:p>
            <a:r>
              <a:rPr lang="en-IN" b="1" dirty="0"/>
              <a:t>Database Features</a:t>
            </a:r>
          </a:p>
          <a:p>
            <a:r>
              <a:rPr lang="en-IN" dirty="0"/>
              <a:t>Employee Data Storage </a:t>
            </a:r>
          </a:p>
          <a:p>
            <a:r>
              <a:rPr lang="en-IN" dirty="0"/>
              <a:t>Data Retrieval </a:t>
            </a:r>
          </a:p>
          <a:p>
            <a:r>
              <a:rPr lang="en-IN" dirty="0"/>
              <a:t>Structured Query Processing </a:t>
            </a:r>
          </a:p>
          <a:p>
            <a:r>
              <a:rPr lang="en-IN" dirty="0"/>
              <a:t>Fast Data Analysis </a:t>
            </a:r>
          </a:p>
          <a:p>
            <a:r>
              <a:rPr lang="en-IN" dirty="0"/>
              <a:t>Secure Database Management </a:t>
            </a:r>
          </a:p>
          <a:p>
            <a:r>
              <a:rPr lang="en-IN" b="1" dirty="0"/>
              <a:t>Database Objects</a:t>
            </a:r>
          </a:p>
          <a:p>
            <a:r>
              <a:rPr lang="en-IN" dirty="0"/>
              <a:t>Database: </a:t>
            </a:r>
            <a:r>
              <a:rPr lang="en-IN" b="1" dirty="0"/>
              <a:t>HR Analytics</a:t>
            </a:r>
            <a:r>
              <a:rPr lang="en-IN" dirty="0"/>
              <a:t> </a:t>
            </a:r>
          </a:p>
          <a:p>
            <a:r>
              <a:rPr lang="en-IN" dirty="0"/>
              <a:t>Table: </a:t>
            </a:r>
            <a:r>
              <a:rPr lang="en-IN" b="1" dirty="0" err="1"/>
              <a:t>employee_attrition</a:t>
            </a:r>
            <a:r>
              <a:rPr lang="en-IN" dirty="0"/>
              <a:t> </a:t>
            </a:r>
          </a:p>
          <a:p>
            <a:r>
              <a:rPr lang="en-IN" dirty="0"/>
              <a:t>Records: </a:t>
            </a:r>
            <a:r>
              <a:rPr lang="en-IN" b="1" dirty="0"/>
              <a:t>1470</a:t>
            </a:r>
            <a:endParaRPr lang="en-IN" dirty="0"/>
          </a:p>
          <a:p>
            <a:endParaRPr lang="en-IN" dirty="0"/>
          </a:p>
        </p:txBody>
      </p:sp>
    </p:spTree>
    <p:extLst>
      <p:ext uri="{BB962C8B-B14F-4D97-AF65-F5344CB8AC3E}">
        <p14:creationId xmlns:p14="http://schemas.microsoft.com/office/powerpoint/2010/main" val="3061783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78C2B-3AC6-0A54-E57D-C86DA42DF30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431B4E-4DA0-6F6D-0F11-9CE985494D0B}"/>
              </a:ext>
            </a:extLst>
          </p:cNvPr>
          <p:cNvSpPr>
            <a:spLocks noGrp="1"/>
          </p:cNvSpPr>
          <p:nvPr>
            <p:ph idx="1"/>
          </p:nvPr>
        </p:nvSpPr>
        <p:spPr/>
        <p:txBody>
          <a:bodyPr>
            <a:normAutofit fontScale="92500" lnSpcReduction="10000"/>
          </a:bodyPr>
          <a:lstStyle/>
          <a:p>
            <a:r>
              <a:rPr lang="en-IN" b="1" dirty="0"/>
              <a:t>SQL Analysis</a:t>
            </a:r>
          </a:p>
          <a:p>
            <a:r>
              <a:rPr lang="en-IN" b="1" dirty="0"/>
              <a:t>SQL Analysis</a:t>
            </a:r>
          </a:p>
          <a:p>
            <a:r>
              <a:rPr lang="en-IN" dirty="0"/>
              <a:t>SQL was used to perform business analysis and generate HR reports.</a:t>
            </a:r>
          </a:p>
          <a:p>
            <a:r>
              <a:rPr lang="en-IN" b="1" dirty="0"/>
              <a:t>SQL Operations Performed</a:t>
            </a:r>
          </a:p>
          <a:p>
            <a:r>
              <a:rPr lang="en-IN" dirty="0"/>
              <a:t>Total Employees </a:t>
            </a:r>
          </a:p>
          <a:p>
            <a:r>
              <a:rPr lang="en-IN" dirty="0"/>
              <a:t>Average Age </a:t>
            </a:r>
          </a:p>
          <a:p>
            <a:r>
              <a:rPr lang="en-IN" dirty="0"/>
              <a:t>Department-wise Employees </a:t>
            </a:r>
          </a:p>
          <a:p>
            <a:r>
              <a:rPr lang="en-IN" dirty="0"/>
              <a:t>Gender Distribution </a:t>
            </a:r>
          </a:p>
          <a:p>
            <a:r>
              <a:rPr lang="en-IN" dirty="0"/>
              <a:t>Job Role Analysis </a:t>
            </a:r>
          </a:p>
          <a:p>
            <a:r>
              <a:rPr lang="en-IN" dirty="0"/>
              <a:t>Salary Analysis </a:t>
            </a:r>
          </a:p>
          <a:p>
            <a:r>
              <a:rPr lang="en-IN" dirty="0"/>
              <a:t>Attrition Analysis </a:t>
            </a:r>
          </a:p>
          <a:p>
            <a:r>
              <a:rPr lang="en-IN" dirty="0"/>
              <a:t>Overtime Analysis</a:t>
            </a:r>
          </a:p>
          <a:p>
            <a:endParaRPr lang="en-IN" dirty="0"/>
          </a:p>
        </p:txBody>
      </p:sp>
    </p:spTree>
    <p:extLst>
      <p:ext uri="{BB962C8B-B14F-4D97-AF65-F5344CB8AC3E}">
        <p14:creationId xmlns:p14="http://schemas.microsoft.com/office/powerpoint/2010/main" val="388226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CEB7A-CD41-C20C-65C9-E484C5B737D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6CC9E4-3EAF-C88B-6251-3C9C17680DA8}"/>
              </a:ext>
            </a:extLst>
          </p:cNvPr>
          <p:cNvSpPr>
            <a:spLocks noGrp="1"/>
          </p:cNvSpPr>
          <p:nvPr>
            <p:ph idx="1"/>
          </p:nvPr>
        </p:nvSpPr>
        <p:spPr/>
        <p:txBody>
          <a:bodyPr>
            <a:normAutofit fontScale="62500" lnSpcReduction="20000"/>
          </a:bodyPr>
          <a:lstStyle/>
          <a:p>
            <a:r>
              <a:rPr lang="en-IN" b="1" dirty="0"/>
              <a:t>Power BI Dashboard</a:t>
            </a:r>
          </a:p>
          <a:p>
            <a:r>
              <a:rPr lang="en-IN" b="1" dirty="0"/>
              <a:t>Dashboard Overview</a:t>
            </a:r>
          </a:p>
          <a:p>
            <a:r>
              <a:rPr lang="en-IN" dirty="0"/>
              <a:t>Microsoft Power BI was used to create an interactive dashboard for HR analysis.</a:t>
            </a:r>
          </a:p>
          <a:p>
            <a:r>
              <a:rPr lang="en-IN" b="1" dirty="0"/>
              <a:t>Dashboard Features</a:t>
            </a:r>
          </a:p>
          <a:p>
            <a:r>
              <a:rPr lang="en-IN" dirty="0"/>
              <a:t>KPI Cards </a:t>
            </a:r>
          </a:p>
          <a:p>
            <a:r>
              <a:rPr lang="en-IN" dirty="0"/>
              <a:t>Total Employees </a:t>
            </a:r>
          </a:p>
          <a:p>
            <a:r>
              <a:rPr lang="en-IN" dirty="0"/>
              <a:t>Attrition Rate </a:t>
            </a:r>
          </a:p>
          <a:p>
            <a:r>
              <a:rPr lang="en-IN" dirty="0"/>
              <a:t>Department Analysis </a:t>
            </a:r>
          </a:p>
          <a:p>
            <a:r>
              <a:rPr lang="en-IN" dirty="0"/>
              <a:t>Gender Distribution </a:t>
            </a:r>
          </a:p>
          <a:p>
            <a:r>
              <a:rPr lang="en-IN" dirty="0"/>
              <a:t>Salary Analysis </a:t>
            </a:r>
          </a:p>
          <a:p>
            <a:r>
              <a:rPr lang="en-IN" dirty="0"/>
              <a:t>Overtime Analysis </a:t>
            </a:r>
          </a:p>
          <a:p>
            <a:r>
              <a:rPr lang="en-IN" dirty="0"/>
              <a:t>Interactive Filters </a:t>
            </a:r>
          </a:p>
          <a:p>
            <a:r>
              <a:rPr lang="en-IN" b="1" dirty="0"/>
              <a:t>Benefits</a:t>
            </a:r>
          </a:p>
          <a:p>
            <a:r>
              <a:rPr lang="en-IN" dirty="0"/>
              <a:t>Easy data visualization </a:t>
            </a:r>
          </a:p>
          <a:p>
            <a:r>
              <a:rPr lang="en-IN" dirty="0"/>
              <a:t>Better HR decision-making </a:t>
            </a:r>
          </a:p>
          <a:p>
            <a:r>
              <a:rPr lang="en-IN" dirty="0"/>
              <a:t>Real-time business insights</a:t>
            </a:r>
          </a:p>
          <a:p>
            <a:endParaRPr lang="en-IN" dirty="0"/>
          </a:p>
        </p:txBody>
      </p:sp>
    </p:spTree>
    <p:extLst>
      <p:ext uri="{BB962C8B-B14F-4D97-AF65-F5344CB8AC3E}">
        <p14:creationId xmlns:p14="http://schemas.microsoft.com/office/powerpoint/2010/main" val="989797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73F94-9EBC-45B0-9467-2D62E36F870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CBD107F-928D-BD78-52AC-385D947697FB}"/>
              </a:ext>
            </a:extLst>
          </p:cNvPr>
          <p:cNvSpPr>
            <a:spLocks noGrp="1"/>
          </p:cNvSpPr>
          <p:nvPr>
            <p:ph idx="1"/>
          </p:nvPr>
        </p:nvSpPr>
        <p:spPr/>
        <p:txBody>
          <a:bodyPr>
            <a:normAutofit/>
          </a:bodyPr>
          <a:lstStyle/>
          <a:p>
            <a:r>
              <a:rPr lang="en-IN" b="1" dirty="0"/>
              <a:t>Results &amp; Key Findings</a:t>
            </a:r>
          </a:p>
          <a:p>
            <a:r>
              <a:rPr lang="en-IN" b="1" dirty="0"/>
              <a:t>Project Results</a:t>
            </a:r>
          </a:p>
          <a:p>
            <a:r>
              <a:rPr lang="en-IN" dirty="0"/>
              <a:t>The project successfully </a:t>
            </a:r>
            <a:r>
              <a:rPr lang="en-IN" dirty="0" err="1"/>
              <a:t>analyzed</a:t>
            </a:r>
            <a:r>
              <a:rPr lang="en-IN" dirty="0"/>
              <a:t> employee data and generated valuable HR insights using Machine Learning, SQL, and Power BI.</a:t>
            </a:r>
          </a:p>
          <a:p>
            <a:r>
              <a:rPr lang="en-IN" b="1" dirty="0"/>
              <a:t>Key Findings</a:t>
            </a:r>
          </a:p>
          <a:p>
            <a:r>
              <a:rPr lang="en-IN" dirty="0"/>
              <a:t>Total Employees: </a:t>
            </a:r>
            <a:r>
              <a:rPr lang="en-IN" b="1" dirty="0"/>
              <a:t>1470</a:t>
            </a:r>
            <a:r>
              <a:rPr lang="en-IN" dirty="0"/>
              <a:t> </a:t>
            </a:r>
          </a:p>
          <a:p>
            <a:r>
              <a:rPr lang="en-IN" dirty="0"/>
              <a:t>Employee attrition predicted successfully </a:t>
            </a:r>
          </a:p>
          <a:p>
            <a:r>
              <a:rPr lang="en-IN" dirty="0"/>
              <a:t>Overtime is a major attrition factor </a:t>
            </a:r>
          </a:p>
          <a:p>
            <a:r>
              <a:rPr lang="en-IN" dirty="0"/>
              <a:t>Monthly Income influences retention </a:t>
            </a:r>
          </a:p>
          <a:p>
            <a:r>
              <a:rPr lang="en-IN" dirty="0"/>
              <a:t>Work-Life Balance affects employee satisfaction </a:t>
            </a:r>
          </a:p>
          <a:p>
            <a:r>
              <a:rPr lang="en-IN" dirty="0"/>
              <a:t>Interactive dashboard supports HR managers</a:t>
            </a:r>
          </a:p>
          <a:p>
            <a:endParaRPr lang="en-IN" dirty="0"/>
          </a:p>
        </p:txBody>
      </p:sp>
    </p:spTree>
    <p:extLst>
      <p:ext uri="{BB962C8B-B14F-4D97-AF65-F5344CB8AC3E}">
        <p14:creationId xmlns:p14="http://schemas.microsoft.com/office/powerpoint/2010/main" val="162966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45CF2-1557-DA61-80F5-674C80AECC5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518C0D-E65C-3C69-2482-2A3206F4CC04}"/>
              </a:ext>
            </a:extLst>
          </p:cNvPr>
          <p:cNvSpPr>
            <a:spLocks noGrp="1"/>
          </p:cNvSpPr>
          <p:nvPr>
            <p:ph idx="1"/>
          </p:nvPr>
        </p:nvSpPr>
        <p:spPr/>
        <p:txBody>
          <a:bodyPr>
            <a:normAutofit fontScale="55000" lnSpcReduction="20000"/>
          </a:bodyPr>
          <a:lstStyle/>
          <a:p>
            <a:r>
              <a:rPr lang="en-IN" b="1" dirty="0"/>
              <a:t>Advantages of the Project</a:t>
            </a:r>
          </a:p>
          <a:p>
            <a:r>
              <a:rPr lang="en-IN" b="1" dirty="0"/>
              <a:t>Advantages</a:t>
            </a:r>
          </a:p>
          <a:p>
            <a:r>
              <a:rPr lang="en-IN" dirty="0"/>
              <a:t>The AI-Powered HR Analytics System provides several benefits to organizations by improving workforce analysis and supporting data-driven HR decisions.</a:t>
            </a:r>
          </a:p>
          <a:p>
            <a:r>
              <a:rPr lang="en-IN" b="1" dirty="0"/>
              <a:t>Key Advantages</a:t>
            </a:r>
          </a:p>
          <a:p>
            <a:r>
              <a:rPr lang="en-IN" dirty="0"/>
              <a:t>Predicts employee attrition in advance </a:t>
            </a:r>
          </a:p>
          <a:p>
            <a:r>
              <a:rPr lang="en-IN" dirty="0"/>
              <a:t>Reduces recruitment and training costs </a:t>
            </a:r>
          </a:p>
          <a:p>
            <a:r>
              <a:rPr lang="en-IN" dirty="0"/>
              <a:t>Improves employee retention strategies </a:t>
            </a:r>
          </a:p>
          <a:p>
            <a:r>
              <a:rPr lang="en-IN" dirty="0"/>
              <a:t>Automates HR data analysis </a:t>
            </a:r>
          </a:p>
          <a:p>
            <a:r>
              <a:rPr lang="en-IN" dirty="0"/>
              <a:t>Generates accurate business insights </a:t>
            </a:r>
          </a:p>
          <a:p>
            <a:r>
              <a:rPr lang="en-IN" dirty="0"/>
              <a:t>Provides interactive Power BI dashboards </a:t>
            </a:r>
          </a:p>
          <a:p>
            <a:r>
              <a:rPr lang="en-IN" dirty="0"/>
              <a:t>Supports strategic workforce planning </a:t>
            </a:r>
          </a:p>
          <a:p>
            <a:r>
              <a:rPr lang="en-IN" dirty="0"/>
              <a:t>Saves time through automated reporting </a:t>
            </a:r>
          </a:p>
          <a:p>
            <a:r>
              <a:rPr lang="en-IN" b="1" dirty="0"/>
              <a:t>Business Impact</a:t>
            </a:r>
          </a:p>
          <a:p>
            <a:r>
              <a:rPr lang="en-IN" dirty="0"/>
              <a:t>Better HR planning </a:t>
            </a:r>
          </a:p>
          <a:p>
            <a:r>
              <a:rPr lang="en-IN" dirty="0"/>
              <a:t>Improved employee satisfaction </a:t>
            </a:r>
          </a:p>
          <a:p>
            <a:r>
              <a:rPr lang="en-IN" dirty="0"/>
              <a:t>Increased organizational productivity </a:t>
            </a:r>
          </a:p>
          <a:p>
            <a:r>
              <a:rPr lang="en-IN" dirty="0"/>
              <a:t>Enhanced decision-making</a:t>
            </a:r>
          </a:p>
          <a:p>
            <a:endParaRPr lang="en-IN" dirty="0"/>
          </a:p>
        </p:txBody>
      </p:sp>
    </p:spTree>
    <p:extLst>
      <p:ext uri="{BB962C8B-B14F-4D97-AF65-F5344CB8AC3E}">
        <p14:creationId xmlns:p14="http://schemas.microsoft.com/office/powerpoint/2010/main" val="37178586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5B14B-C2BA-37D4-F165-DD7BD2A2F2C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16FE835-C91E-0986-1992-CDEEB8C8C53D}"/>
              </a:ext>
            </a:extLst>
          </p:cNvPr>
          <p:cNvSpPr>
            <a:spLocks noGrp="1"/>
          </p:cNvSpPr>
          <p:nvPr>
            <p:ph idx="1"/>
          </p:nvPr>
        </p:nvSpPr>
        <p:spPr/>
        <p:txBody>
          <a:bodyPr>
            <a:normAutofit fontScale="77500" lnSpcReduction="20000"/>
          </a:bodyPr>
          <a:lstStyle/>
          <a:p>
            <a:r>
              <a:rPr lang="en-IN" b="1" dirty="0"/>
              <a:t>Limitations</a:t>
            </a:r>
          </a:p>
          <a:p>
            <a:r>
              <a:rPr lang="en-IN" b="1" dirty="0"/>
              <a:t>Project Limitations</a:t>
            </a:r>
          </a:p>
          <a:p>
            <a:r>
              <a:rPr lang="en-IN" dirty="0"/>
              <a:t>Although the system provides accurate analysis and predictions, it has some limitations.</a:t>
            </a:r>
          </a:p>
          <a:p>
            <a:r>
              <a:rPr lang="en-IN" b="1" dirty="0"/>
              <a:t>Current Limitations</a:t>
            </a:r>
          </a:p>
          <a:p>
            <a:r>
              <a:rPr lang="en-IN" dirty="0"/>
              <a:t>Uses a static dataset </a:t>
            </a:r>
          </a:p>
          <a:p>
            <a:r>
              <a:rPr lang="en-IN" dirty="0"/>
              <a:t>Results depend on data quality </a:t>
            </a:r>
          </a:p>
          <a:p>
            <a:r>
              <a:rPr lang="en-IN" dirty="0"/>
              <a:t>Limited to available employee attributes </a:t>
            </a:r>
          </a:p>
          <a:p>
            <a:r>
              <a:rPr lang="en-IN" dirty="0"/>
              <a:t>Requires periodic data updates </a:t>
            </a:r>
          </a:p>
          <a:p>
            <a:r>
              <a:rPr lang="en-IN" dirty="0"/>
              <a:t>Prediction accuracy depends on the selected ML model </a:t>
            </a:r>
          </a:p>
          <a:p>
            <a:r>
              <a:rPr lang="en-IN" dirty="0"/>
              <a:t>Does not use real-time HR data </a:t>
            </a:r>
          </a:p>
          <a:p>
            <a:r>
              <a:rPr lang="en-IN" b="1" dirty="0"/>
              <a:t>Possible Improvements</a:t>
            </a:r>
          </a:p>
          <a:p>
            <a:r>
              <a:rPr lang="en-IN" dirty="0"/>
              <a:t>Integrate live HR databases </a:t>
            </a:r>
          </a:p>
          <a:p>
            <a:r>
              <a:rPr lang="en-IN" dirty="0"/>
              <a:t>Improve model accuracy </a:t>
            </a:r>
          </a:p>
          <a:p>
            <a:r>
              <a:rPr lang="en-IN" dirty="0"/>
              <a:t>Add employee sentiment analysis</a:t>
            </a:r>
          </a:p>
          <a:p>
            <a:endParaRPr lang="en-IN" dirty="0"/>
          </a:p>
        </p:txBody>
      </p:sp>
    </p:spTree>
    <p:extLst>
      <p:ext uri="{BB962C8B-B14F-4D97-AF65-F5344CB8AC3E}">
        <p14:creationId xmlns:p14="http://schemas.microsoft.com/office/powerpoint/2010/main" val="1432291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2D8C-103E-38E8-B35C-EA84EEA8EC3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98E225E-411E-9BDB-831E-AD9F6B5016D2}"/>
              </a:ext>
            </a:extLst>
          </p:cNvPr>
          <p:cNvSpPr>
            <a:spLocks noGrp="1"/>
          </p:cNvSpPr>
          <p:nvPr>
            <p:ph idx="1"/>
          </p:nvPr>
        </p:nvSpPr>
        <p:spPr/>
        <p:txBody>
          <a:bodyPr>
            <a:normAutofit fontScale="55000" lnSpcReduction="20000"/>
          </a:bodyPr>
          <a:lstStyle/>
          <a:p>
            <a:r>
              <a:rPr lang="en-IN" b="1" dirty="0"/>
              <a:t>Future Scope</a:t>
            </a:r>
          </a:p>
          <a:p>
            <a:r>
              <a:rPr lang="en-IN" b="1" dirty="0"/>
              <a:t>Future Scope</a:t>
            </a:r>
          </a:p>
          <a:p>
            <a:r>
              <a:rPr lang="en-IN" dirty="0"/>
              <a:t>The project can be enhanced with advanced technologies to make it more intelligent and scalable.</a:t>
            </a:r>
          </a:p>
          <a:p>
            <a:r>
              <a:rPr lang="en-IN" b="1" dirty="0"/>
              <a:t>Future Enhancements</a:t>
            </a:r>
          </a:p>
          <a:p>
            <a:r>
              <a:rPr lang="en-IN" dirty="0"/>
              <a:t>Real-Time HR Database Integration </a:t>
            </a:r>
          </a:p>
          <a:p>
            <a:r>
              <a:rPr lang="en-IN" dirty="0"/>
              <a:t>Cloud Deployment (Azure / AWS) </a:t>
            </a:r>
          </a:p>
          <a:p>
            <a:r>
              <a:rPr lang="en-IN" dirty="0"/>
              <a:t>Mobile Application </a:t>
            </a:r>
          </a:p>
          <a:p>
            <a:r>
              <a:rPr lang="en-IN" dirty="0"/>
              <a:t>Deep Learning Models </a:t>
            </a:r>
          </a:p>
          <a:p>
            <a:r>
              <a:rPr lang="en-IN" dirty="0"/>
              <a:t>Employee Sentiment Analysis </a:t>
            </a:r>
          </a:p>
          <a:p>
            <a:r>
              <a:rPr lang="en-IN" dirty="0"/>
              <a:t>AI-Based Recommendation System </a:t>
            </a:r>
          </a:p>
          <a:p>
            <a:r>
              <a:rPr lang="en-IN" dirty="0"/>
              <a:t>Real-Time Dashboard Updates </a:t>
            </a:r>
          </a:p>
          <a:p>
            <a:r>
              <a:rPr lang="en-IN" dirty="0"/>
              <a:t>Predictive Performance Analysis </a:t>
            </a:r>
          </a:p>
          <a:p>
            <a:r>
              <a:rPr lang="en-IN" b="1" dirty="0"/>
              <a:t>Expected Benefits</a:t>
            </a:r>
          </a:p>
          <a:p>
            <a:r>
              <a:rPr lang="en-IN" dirty="0"/>
              <a:t>Faster decision-making </a:t>
            </a:r>
          </a:p>
          <a:p>
            <a:r>
              <a:rPr lang="en-IN" dirty="0"/>
              <a:t>Higher prediction accuracy </a:t>
            </a:r>
          </a:p>
          <a:p>
            <a:r>
              <a:rPr lang="en-IN" dirty="0"/>
              <a:t>Better workforce management </a:t>
            </a:r>
          </a:p>
          <a:p>
            <a:r>
              <a:rPr lang="en-IN" dirty="0"/>
              <a:t>Scalable enterprise solution</a:t>
            </a:r>
          </a:p>
          <a:p>
            <a:endParaRPr lang="en-IN" dirty="0"/>
          </a:p>
        </p:txBody>
      </p:sp>
    </p:spTree>
    <p:extLst>
      <p:ext uri="{BB962C8B-B14F-4D97-AF65-F5344CB8AC3E}">
        <p14:creationId xmlns:p14="http://schemas.microsoft.com/office/powerpoint/2010/main" val="2224570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9C77-F82B-1C93-4DE6-F0FF82E994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344E51A-0251-F4BF-B928-15597AB0C18A}"/>
              </a:ext>
            </a:extLst>
          </p:cNvPr>
          <p:cNvSpPr>
            <a:spLocks noGrp="1"/>
          </p:cNvSpPr>
          <p:nvPr>
            <p:ph idx="1"/>
          </p:nvPr>
        </p:nvSpPr>
        <p:spPr/>
        <p:txBody>
          <a:bodyPr>
            <a:normAutofit fontScale="85000" lnSpcReduction="20000"/>
          </a:bodyPr>
          <a:lstStyle/>
          <a:p>
            <a:r>
              <a:rPr lang="en-IN" b="1" dirty="0"/>
              <a:t>Conclusion</a:t>
            </a:r>
          </a:p>
          <a:p>
            <a:r>
              <a:rPr lang="en-IN" b="1" dirty="0"/>
              <a:t>Conclusion</a:t>
            </a:r>
          </a:p>
          <a:p>
            <a:r>
              <a:rPr lang="en-IN" dirty="0"/>
              <a:t>The </a:t>
            </a:r>
            <a:r>
              <a:rPr lang="en-IN" b="1" dirty="0"/>
              <a:t>AI-Powered HR Analytics &amp; Employee Attrition Prediction System</a:t>
            </a:r>
            <a:r>
              <a:rPr lang="en-IN" dirty="0"/>
              <a:t> successfully combines </a:t>
            </a:r>
            <a:r>
              <a:rPr lang="en-IN" b="1" dirty="0"/>
              <a:t>Python, Machine Learning, MySQL, SQL, and Microsoft Power BI</a:t>
            </a:r>
            <a:r>
              <a:rPr lang="en-IN" dirty="0"/>
              <a:t> into a unified HR Analytics platform.</a:t>
            </a:r>
          </a:p>
          <a:p>
            <a:r>
              <a:rPr lang="en-IN" dirty="0"/>
              <a:t>The system </a:t>
            </a:r>
            <a:r>
              <a:rPr lang="en-IN" dirty="0" err="1"/>
              <a:t>analyzes</a:t>
            </a:r>
            <a:r>
              <a:rPr lang="en-IN" dirty="0"/>
              <a:t> employee data, predicts attrition, and presents meaningful business insights through interactive dashboards. It helps HR managers identify high-risk employees, improve workforce planning, and make informed decisions based on data rather than assumptions.</a:t>
            </a:r>
          </a:p>
          <a:p>
            <a:r>
              <a:rPr lang="en-IN" b="1" dirty="0"/>
              <a:t>Project Achievements</a:t>
            </a:r>
          </a:p>
          <a:p>
            <a:r>
              <a:rPr lang="en-IN" dirty="0"/>
              <a:t>HR dataset </a:t>
            </a:r>
            <a:r>
              <a:rPr lang="en-IN" dirty="0" err="1"/>
              <a:t>analyzed</a:t>
            </a:r>
            <a:r>
              <a:rPr lang="en-IN" dirty="0"/>
              <a:t> successfully </a:t>
            </a:r>
          </a:p>
          <a:p>
            <a:r>
              <a:rPr lang="en-IN" dirty="0"/>
              <a:t>Employee attrition predicted </a:t>
            </a:r>
          </a:p>
          <a:p>
            <a:r>
              <a:rPr lang="en-IN" dirty="0"/>
              <a:t>SQL reports generated </a:t>
            </a:r>
          </a:p>
          <a:p>
            <a:r>
              <a:rPr lang="en-IN" dirty="0"/>
              <a:t>Interactive Power BI dashboard developed </a:t>
            </a:r>
          </a:p>
          <a:p>
            <a:r>
              <a:rPr lang="en-IN" dirty="0"/>
              <a:t>Data-driven HR insights provided </a:t>
            </a:r>
          </a:p>
          <a:p>
            <a:r>
              <a:rPr lang="en-IN" b="1" dirty="0"/>
              <a:t>Final Outcome</a:t>
            </a:r>
          </a:p>
          <a:p>
            <a:r>
              <a:rPr lang="en-IN" dirty="0"/>
              <a:t>The project demonstrates how Artificial Intelligence and Business Intelligence can improve employee retention and support strategic Human Resource Management.</a:t>
            </a:r>
          </a:p>
          <a:p>
            <a:endParaRPr lang="en-IN" dirty="0"/>
          </a:p>
        </p:txBody>
      </p:sp>
    </p:spTree>
    <p:extLst>
      <p:ext uri="{BB962C8B-B14F-4D97-AF65-F5344CB8AC3E}">
        <p14:creationId xmlns:p14="http://schemas.microsoft.com/office/powerpoint/2010/main" val="815803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F16-C223-82A7-B74A-B5137DF5242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1746C1D-EE9C-0FC3-85F0-081A403D38D9}"/>
              </a:ext>
            </a:extLst>
          </p:cNvPr>
          <p:cNvSpPr>
            <a:spLocks noGrp="1"/>
          </p:cNvSpPr>
          <p:nvPr>
            <p:ph idx="1"/>
          </p:nvPr>
        </p:nvSpPr>
        <p:spPr/>
        <p:txBody>
          <a:bodyPr>
            <a:normAutofit/>
          </a:bodyPr>
          <a:lstStyle/>
          <a:p>
            <a:r>
              <a:rPr lang="en-IN" b="1" dirty="0"/>
              <a:t>Thank You</a:t>
            </a:r>
          </a:p>
          <a:p>
            <a:r>
              <a:rPr lang="en-IN" b="1" dirty="0"/>
              <a:t>Thank You</a:t>
            </a:r>
          </a:p>
          <a:p>
            <a:r>
              <a:rPr lang="en-IN" b="1" dirty="0"/>
              <a:t>Questions &amp; Discussion</a:t>
            </a:r>
          </a:p>
          <a:p>
            <a:r>
              <a:rPr lang="en-IN" b="1" dirty="0"/>
              <a:t>Presented By</a:t>
            </a:r>
            <a:endParaRPr lang="en-IN" dirty="0"/>
          </a:p>
          <a:p>
            <a:r>
              <a:rPr lang="en-IN" b="1" dirty="0"/>
              <a:t>Deepanshu Goel</a:t>
            </a:r>
            <a:endParaRPr lang="en-IN" dirty="0"/>
          </a:p>
          <a:p>
            <a:r>
              <a:rPr lang="en-IN" b="1" dirty="0" err="1"/>
              <a:t>Enrollment</a:t>
            </a:r>
            <a:r>
              <a:rPr lang="en-IN" b="1" dirty="0"/>
              <a:t> No.: 202310101110058</a:t>
            </a:r>
            <a:endParaRPr lang="en-IN" dirty="0"/>
          </a:p>
          <a:p>
            <a:r>
              <a:rPr lang="en-IN" b="1" dirty="0" err="1"/>
              <a:t>B.Tech</a:t>
            </a:r>
            <a:r>
              <a:rPr lang="en-IN" b="1" dirty="0"/>
              <a:t> – Computer Science &amp; Engineering</a:t>
            </a:r>
            <a:endParaRPr lang="en-IN" dirty="0"/>
          </a:p>
          <a:p>
            <a:r>
              <a:rPr lang="en-IN" b="1" dirty="0"/>
              <a:t>Shri Ramswaroop Memorial University</a:t>
            </a:r>
            <a:endParaRPr lang="en-IN" dirty="0"/>
          </a:p>
          <a:p>
            <a:r>
              <a:rPr lang="en-IN" b="1" dirty="0"/>
              <a:t>Academic Session: 2026–27</a:t>
            </a:r>
            <a:endParaRPr lang="en-IN" dirty="0"/>
          </a:p>
          <a:p>
            <a:endParaRPr lang="en-IN" dirty="0"/>
          </a:p>
        </p:txBody>
      </p:sp>
    </p:spTree>
    <p:extLst>
      <p:ext uri="{BB962C8B-B14F-4D97-AF65-F5344CB8AC3E}">
        <p14:creationId xmlns:p14="http://schemas.microsoft.com/office/powerpoint/2010/main" val="4030877158"/>
      </p:ext>
    </p:extLst>
  </p:cSld>
  <p:clrMapOvr>
    <a:masterClrMapping/>
  </p:clrMapOvr>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 experience" id="{9BAA8FFB-1EEF-49AC-B7FF-0F37799585E9}" vid="{6523F788-A6E6-47B0-B3C7-625411BE5A1C}"/>
    </a:ext>
  </a:extLst>
</a:theme>
</file>

<file path=docProps/app.xml><?xml version="1.0" encoding="utf-8"?>
<Properties xmlns="http://schemas.openxmlformats.org/officeDocument/2006/extended-properties" xmlns:vt="http://schemas.openxmlformats.org/officeDocument/2006/docPropsVTypes">
  <Template>Orange Experience</Template>
  <TotalTime>5</TotalTime>
  <Words>1104</Words>
  <Application>Microsoft Office PowerPoint</Application>
  <PresentationFormat>Widescreen</PresentationFormat>
  <Paragraphs>242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Oswald SemiBold</vt:lpstr>
      <vt:lpstr>Univers Condensed Light</vt:lpstr>
      <vt:lpstr>Orange Experience</vt:lpstr>
      <vt:lpstr>–  Introduction Human Resource Analytics uses employee data to improve organizational decision-making. It helps HR departments understand workforce behavior, identify performance trends, and reduce employee attrition using data-driven insights. This project integrates Python, Machine Learning, MySQL, SQL, and Microsoft Power BI to predict employee attrition and support HR managers with interactive reports. Key Highlights HR Data Analytics  AI &amp; Machine Learning  Employee Attrition Prediction  SQL Business Analysis  Interactive Power BI Dashboard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Deepanshu Goel</dc:creator>
  <cp:lastModifiedBy>Deepanshu Goel</cp:lastModifiedBy>
  <cp:revision>1</cp:revision>
  <dcterms:created xsi:type="dcterms:W3CDTF">2026-07-07T11:25:33Z</dcterms:created>
  <dcterms:modified xsi:type="dcterms:W3CDTF">2026-07-31T16:08:02Z</dcterms:modified>
</cp:coreProperties>
</file>